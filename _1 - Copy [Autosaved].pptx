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31_44F8EDD5.xml" ContentType="application/vnd.ms-powerpoint.comments+xml"/>
  <Override PartName="/ppt/comments/modernComment_120_AC051886.xml" ContentType="application/vnd.ms-powerpoint.comments+xml"/>
  <Override PartName="/ppt/comments/modernComment_121_BBCB2D70.xml" ContentType="application/vnd.ms-powerpoint.comments+xml"/>
  <Override PartName="/ppt/comments/modernComment_123_9AA2122A.xml" ContentType="application/vnd.ms-powerpoint.comments+xml"/>
  <Override PartName="/ppt/comments/modernComment_136_81D57DC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256" r:id="rId2"/>
    <p:sldId id="287" r:id="rId3"/>
    <p:sldId id="305" r:id="rId4"/>
    <p:sldId id="304" r:id="rId5"/>
    <p:sldId id="299" r:id="rId6"/>
    <p:sldId id="288" r:id="rId7"/>
    <p:sldId id="289" r:id="rId8"/>
    <p:sldId id="291" r:id="rId9"/>
    <p:sldId id="290" r:id="rId10"/>
    <p:sldId id="310" r:id="rId11"/>
    <p:sldId id="259" r:id="rId12"/>
    <p:sldId id="260" r:id="rId13"/>
    <p:sldId id="271" r:id="rId14"/>
    <p:sldId id="303" r:id="rId15"/>
    <p:sldId id="276" r:id="rId16"/>
    <p:sldId id="292" r:id="rId17"/>
    <p:sldId id="297" r:id="rId18"/>
    <p:sldId id="306" r:id="rId19"/>
    <p:sldId id="307" r:id="rId20"/>
    <p:sldId id="308" r:id="rId21"/>
    <p:sldId id="309" r:id="rId22"/>
    <p:sldId id="279" r:id="rId23"/>
    <p:sldId id="275" r:id="rId24"/>
    <p:sldId id="284" r:id="rId25"/>
    <p:sldId id="280" r:id="rId26"/>
    <p:sldId id="29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4427C5-BA96-7C3C-3593-79073118647D}" name="Alam, Md Fakhrul" initials="MA" userId="S::alamm11@miamioh.edu::1793a9df-3049-4029-8abe-147133e471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9" autoAdjust="0"/>
    <p:restoredTop sz="86410"/>
  </p:normalViewPr>
  <p:slideViewPr>
    <p:cSldViewPr snapToGrid="0">
      <p:cViewPr>
        <p:scale>
          <a:sx n="53" d="100"/>
          <a:sy n="53" d="100"/>
        </p:scale>
        <p:origin x="220" y="76"/>
      </p:cViewPr>
      <p:guideLst/>
    </p:cSldViewPr>
  </p:slideViewPr>
  <p:outlineViewPr>
    <p:cViewPr>
      <p:scale>
        <a:sx n="33" d="100"/>
        <a:sy n="33" d="100"/>
      </p:scale>
      <p:origin x="0" y="-432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omments/modernComment_120_AC051886.xml><?xml version="1.0" encoding="utf-8"?>
<p188:cmLst xmlns:a="http://schemas.openxmlformats.org/drawingml/2006/main" xmlns:r="http://schemas.openxmlformats.org/officeDocument/2006/relationships" xmlns:p188="http://schemas.microsoft.com/office/powerpoint/2018/8/main">
  <p188:cm id="{53E6FF5E-E218-4329-950B-CB3F249BA777}" authorId="{484427C5-BA96-7C3C-3593-79073118647D}" created="2026-02-25T20:03:26.949">
    <pc:sldMkLst xmlns:pc="http://schemas.microsoft.com/office/powerpoint/2013/main/command">
      <pc:docMk/>
      <pc:sldMk cId="2886015110" sldId="288"/>
    </pc:sldMkLst>
    <p188:txBody>
      <a:bodyPr/>
      <a:lstStyle/>
      <a:p>
        <a:r>
          <a:rPr lang="en-US"/>
          <a:t>What about the figure?</a:t>
        </a:r>
      </a:p>
    </p188:txBody>
  </p188:cm>
</p188:cmLst>
</file>

<file path=ppt/comments/modernComment_121_BBCB2D70.xml><?xml version="1.0" encoding="utf-8"?>
<p188:cmLst xmlns:a="http://schemas.openxmlformats.org/drawingml/2006/main" xmlns:r="http://schemas.openxmlformats.org/officeDocument/2006/relationships" xmlns:p188="http://schemas.microsoft.com/office/powerpoint/2018/8/main">
  <p188:cm id="{05D5D221-9B83-4E8B-8372-95D2B344EC24}" authorId="{484427C5-BA96-7C3C-3593-79073118647D}" created="2026-03-18T18:21:27.515">
    <pc:sldMkLst xmlns:pc="http://schemas.microsoft.com/office/powerpoint/2013/main/command">
      <pc:docMk/>
      <pc:sldMk cId="3150654832" sldId="289"/>
    </pc:sldMkLst>
    <p188:txBody>
      <a:bodyPr/>
      <a:lstStyle/>
      <a:p>
        <a:r>
          <a:rPr lang="en-US"/>
          <a:t>Our Problem statement and then 3 bullet points
(Design a  …….)</a:t>
        </a:r>
      </a:p>
    </p188:txBody>
  </p188:cm>
</p188:cmLst>
</file>

<file path=ppt/comments/modernComment_123_9AA2122A.xml><?xml version="1.0" encoding="utf-8"?>
<p188:cmLst xmlns:a="http://schemas.openxmlformats.org/drawingml/2006/main" xmlns:r="http://schemas.openxmlformats.org/officeDocument/2006/relationships" xmlns:p188="http://schemas.microsoft.com/office/powerpoint/2018/8/main">
  <p188:cm id="{45CEF57A-F2BA-4192-873E-73AD576EACB7}" authorId="{484427C5-BA96-7C3C-3593-79073118647D}" created="2026-03-18T18:24:56.437">
    <pc:sldMkLst xmlns:pc="http://schemas.microsoft.com/office/powerpoint/2013/main/command">
      <pc:docMk/>
      <pc:sldMk cId="2594312746" sldId="291"/>
    </pc:sldMkLst>
    <p188:txBody>
      <a:bodyPr/>
      <a:lstStyle/>
      <a:p>
        <a:r>
          <a:rPr lang="en-US"/>
          <a:t>3-4 Literature review slides gradually growing towards our main research goal where in each slide 
1. Textbox (3 bullet points like what they did, what the limitation and what the scope) 
2. Show 2 figures ( results, design or something relevant) </a:t>
        </a:r>
      </a:p>
    </p188:txBody>
  </p188:cm>
</p188:cmLst>
</file>

<file path=ppt/comments/modernComment_131_44F8EDD5.xml><?xml version="1.0" encoding="utf-8"?>
<p188:cmLst xmlns:a="http://schemas.openxmlformats.org/drawingml/2006/main" xmlns:r="http://schemas.openxmlformats.org/officeDocument/2006/relationships" xmlns:p188="http://schemas.microsoft.com/office/powerpoint/2018/8/main">
  <p188:cm id="{79411C37-4341-417E-BDF7-19E1A44E02AA}" authorId="{484427C5-BA96-7C3C-3593-79073118647D}" created="2026-03-18T18:19:06.527">
    <pc:sldMkLst xmlns:pc="http://schemas.microsoft.com/office/powerpoint/2013/main/command">
      <pc:docMk/>
      <pc:sldMk cId="1157164501" sldId="305"/>
    </pc:sldMkLst>
    <p188:txBody>
      <a:bodyPr/>
      <a:lstStyle/>
      <a:p>
        <a:r>
          <a:rPr lang="en-US"/>
          <a:t>Intro Should be in 3-4 Slides, Last slide will address our idea what we will work with and brief idea of how (need also visual idea/figure which will be added)</a:t>
        </a:r>
      </a:p>
    </p188:txBody>
  </p188:cm>
</p188:cmLst>
</file>

<file path=ppt/comments/modernComment_136_81D57DC1.xml><?xml version="1.0" encoding="utf-8"?>
<p188:cmLst xmlns:a="http://schemas.openxmlformats.org/drawingml/2006/main" xmlns:r="http://schemas.openxmlformats.org/officeDocument/2006/relationships" xmlns:p188="http://schemas.microsoft.com/office/powerpoint/2018/8/main">
  <p188:cm id="{DC2852B6-3F17-43D8-8B9E-3517472FC82C}" authorId="{484427C5-BA96-7C3C-3593-79073118647D}" created="2026-03-18T18:26:05.487">
    <ac:deMkLst xmlns:ac="http://schemas.microsoft.com/office/drawing/2013/main/command">
      <pc:docMk xmlns:pc="http://schemas.microsoft.com/office/powerpoint/2013/main/command"/>
      <pc:sldMk xmlns:pc="http://schemas.microsoft.com/office/powerpoint/2013/main/command" cId="2178252225" sldId="310"/>
      <ac:spMk id="4" creationId="{EE578411-5978-D70F-41E3-32807B9DB8B4}"/>
    </ac:deMkLst>
    <p188:txBody>
      <a:bodyPr/>
      <a:lstStyle/>
      <a:p>
        <a:r>
          <a:rPr lang="en-US"/>
          <a:t>Our research statement in a long sentence inside textbox</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CECE78-DCB2-4443-B219-967076AF9E27}"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5616EB-A8AF-4FF1-85BC-4283245CB029}" type="slidenum">
              <a:rPr lang="en-US" smtClean="0"/>
              <a:t>‹#›</a:t>
            </a:fld>
            <a:endParaRPr lang="en-US"/>
          </a:p>
        </p:txBody>
      </p:sp>
    </p:spTree>
    <p:extLst>
      <p:ext uri="{BB962C8B-B14F-4D97-AF65-F5344CB8AC3E}">
        <p14:creationId xmlns:p14="http://schemas.microsoft.com/office/powerpoint/2010/main" val="604465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61997-8C9D-6685-F68D-FEAFB552DD5C}"/>
              </a:ext>
            </a:extLst>
          </p:cNvPr>
          <p:cNvSpPr>
            <a:spLocks noGrp="1"/>
          </p:cNvSpPr>
          <p:nvPr>
            <p:ph type="ctrTitle"/>
          </p:nvPr>
        </p:nvSpPr>
        <p:spPr>
          <a:xfrm>
            <a:off x="1666240" y="1429025"/>
            <a:ext cx="9144000" cy="1064937"/>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2C573DC-7E4B-B78F-D277-8F4B3ECB83C0}"/>
              </a:ext>
            </a:extLst>
          </p:cNvPr>
          <p:cNvSpPr>
            <a:spLocks noGrp="1"/>
          </p:cNvSpPr>
          <p:nvPr>
            <p:ph type="subTitle" idx="1"/>
          </p:nvPr>
        </p:nvSpPr>
        <p:spPr>
          <a:xfrm>
            <a:off x="1838960" y="2929836"/>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D4214B22-3385-17B3-1565-4823BA638042}"/>
              </a:ext>
            </a:extLst>
          </p:cNvPr>
          <p:cNvSpPr>
            <a:spLocks noGrp="1"/>
          </p:cNvSpPr>
          <p:nvPr>
            <p:ph type="ftr" sz="quarter" idx="11"/>
          </p:nvPr>
        </p:nvSpPr>
        <p:spPr>
          <a:xfrm>
            <a:off x="10810240" y="6420678"/>
            <a:ext cx="1335156" cy="367747"/>
          </a:xfrm>
          <a:prstGeom prst="rect">
            <a:avLst/>
          </a:prstGeom>
        </p:spPr>
        <p:txBody>
          <a:bodyPr/>
          <a:lstStyle/>
          <a:p>
            <a:endParaRPr lang="en-US" dirty="0"/>
          </a:p>
        </p:txBody>
      </p:sp>
    </p:spTree>
    <p:extLst>
      <p:ext uri="{BB962C8B-B14F-4D97-AF65-F5344CB8AC3E}">
        <p14:creationId xmlns:p14="http://schemas.microsoft.com/office/powerpoint/2010/main" val="99694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AEF0E-0CA0-4958-B03B-D482CC9B3E91}"/>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CFFB9-92F3-8862-5008-68FC5ED76DB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40564F3-F613-F463-AA50-82C67588077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E02E4F6-555C-2367-0E01-73D00E189AF7}"/>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cxnSp>
        <p:nvCxnSpPr>
          <p:cNvPr id="2" name="Straight Connector 1">
            <a:extLst>
              <a:ext uri="{FF2B5EF4-FFF2-40B4-BE49-F238E27FC236}">
                <a16:creationId xmlns:a16="http://schemas.microsoft.com/office/drawing/2014/main" id="{8DEDA9C2-DBE6-B918-9986-D93A47DB7CD3}"/>
              </a:ext>
            </a:extLst>
          </p:cNvPr>
          <p:cNvCxnSpPr>
            <a:cxnSpLocks/>
          </p:cNvCxnSpPr>
          <p:nvPr userDrawn="1"/>
        </p:nvCxnSpPr>
        <p:spPr>
          <a:xfrm>
            <a:off x="241023" y="811145"/>
            <a:ext cx="11709953"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428741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D1F6-5FE0-AA47-456F-5DD916AB49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666EA0-3AE9-B8F1-9DB7-D03EE9C948F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C657D7-33F3-6562-E974-8552BFE1117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293C39B-1292-95F9-01E8-0D3255A0550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168A16B-941C-450A-6122-72668A8954F8}"/>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587929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8217A-43F9-EA3C-C0DC-73B04694941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D4AFC21-6370-F9B6-8800-E2858DF3832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14B12E-BDD7-3B7C-B98F-E7C60B5FF14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D44CA5-8718-079D-5CC2-444E4618500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5500F38-C751-0867-5341-E9B3D1216A1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BD91FEE-DE63-7298-29CD-6A46FD781EB9}"/>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15901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D5CE0-BD37-31FD-BD64-D98155C08A67}"/>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14B00CA-4B05-FCC9-380D-A35C5575954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EB1D11-0899-66E5-B737-5959A28C234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C41C7-2299-E904-05BA-8A8965EFBF0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BAFB67-43E6-AE3F-0496-6384041EA64A}"/>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85303D-A8DA-2109-F401-85C9B11F0D7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B03E43-1001-F678-A3AA-636868D05E9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61726D09-AC91-114D-0AD7-A407CB663A9E}"/>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2937961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CF139-819B-1B5A-33D7-BE2A8F56790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0B4F1CB-16E3-AC25-AB56-8979A6D04B2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82810C4D-9DBF-B410-7058-6B76B231E9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6DD87D0-F32E-84A0-FDEA-9F8955220E80}"/>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1445040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40977D-7A33-D9FA-B274-C9D969F7582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ABA9041B-0CF4-5977-6F01-D54FF209299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F9E86C0-0790-928E-D23C-D85B2449BFB4}"/>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1189433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D867-FFD7-833E-C082-33559DCBCD0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453699-8F9C-A17B-A062-1D26AFC8E7A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258D3D-310D-D68D-E5E5-6A37FC9F8FF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1F04F-ADCF-909C-D89B-0B326511D67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0063075F-ADB2-276C-2414-4683783C42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CC9503B-9D85-D6C4-D9B3-B5720D70B519}"/>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703443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F0B1-115D-C5C5-00FF-F63E5716556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44DBD0-AD3A-7BF5-03E5-C0C076F520A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99C0ED-4006-B7F0-813C-89BE0A9475F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D68112-B32E-5439-20EB-31C9C16F3DC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D587AE7F-35F4-2A5E-2748-3AB4BB33231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4964343-6EDE-893F-0511-65E130C61BA9}"/>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2646083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CC51-C919-8DB2-597F-4DF798AC90D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CB76A8-C189-0984-FAB5-2E2772854A6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6E7CEA-CA80-8867-0358-CAA6869F616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0C27179C-D2F1-4492-021D-57018715EA0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EC11CF-D147-4DAD-4AE1-215C57A14C16}"/>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252771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56310C-7966-8C42-C8E7-5965E0F5F70C}"/>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6BA0EE-00CA-25DA-09E1-9404D93BB3D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B29E4E-01C7-6B9C-8705-C8224D0CE40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CBBC0812-7067-559B-2C76-7196A5D630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5C7F377-4174-07F5-029F-A015672C7A3C}"/>
              </a:ext>
            </a:extLst>
          </p:cNvPr>
          <p:cNvSpPr>
            <a:spLocks noGrp="1"/>
          </p:cNvSpPr>
          <p:nvPr>
            <p:ph type="sldNum" sz="quarter" idx="12"/>
          </p:nvPr>
        </p:nvSpPr>
        <p:spPr>
          <a:xfrm>
            <a:off x="8610600" y="6356350"/>
            <a:ext cx="2743200" cy="365125"/>
          </a:xfrm>
          <a:prstGeom prst="rect">
            <a:avLst/>
          </a:prstGeom>
        </p:spPr>
        <p:txBody>
          <a:bodyPr/>
          <a:lstStyle/>
          <a:p>
            <a:fld id="{C45F31B8-6562-4A36-A35A-9CD554BAFD2A}" type="slidenum">
              <a:rPr lang="en-US" smtClean="0"/>
              <a:t>‹#›</a:t>
            </a:fld>
            <a:endParaRPr lang="en-US"/>
          </a:p>
        </p:txBody>
      </p:sp>
    </p:spTree>
    <p:extLst>
      <p:ext uri="{BB962C8B-B14F-4D97-AF65-F5344CB8AC3E}">
        <p14:creationId xmlns:p14="http://schemas.microsoft.com/office/powerpoint/2010/main" val="363744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06D8B8-A75E-1AB5-4F81-489D8914F0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95771D38-FF89-BE00-754C-5BB5FD59F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7" name="Title 1">
            <a:extLst>
              <a:ext uri="{FF2B5EF4-FFF2-40B4-BE49-F238E27FC236}">
                <a16:creationId xmlns:a16="http://schemas.microsoft.com/office/drawing/2014/main" id="{C3D83079-EFC9-771B-7552-42754233FFDC}"/>
              </a:ext>
            </a:extLst>
          </p:cNvPr>
          <p:cNvSpPr txBox="1">
            <a:spLocks/>
          </p:cNvSpPr>
          <p:nvPr userDrawn="1"/>
        </p:nvSpPr>
        <p:spPr>
          <a:xfrm>
            <a:off x="1666240" y="1429025"/>
            <a:ext cx="9144000" cy="1064937"/>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8" name="Subtitle 2">
            <a:extLst>
              <a:ext uri="{FF2B5EF4-FFF2-40B4-BE49-F238E27FC236}">
                <a16:creationId xmlns:a16="http://schemas.microsoft.com/office/drawing/2014/main" id="{C82946D8-F8EC-501A-5473-E1A6CAA7B9EF}"/>
              </a:ext>
            </a:extLst>
          </p:cNvPr>
          <p:cNvSpPr txBox="1">
            <a:spLocks/>
          </p:cNvSpPr>
          <p:nvPr userDrawn="1"/>
        </p:nvSpPr>
        <p:spPr>
          <a:xfrm>
            <a:off x="1422952" y="1429025"/>
            <a:ext cx="9144000" cy="1655762"/>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7" name="Rectangle 16">
            <a:extLst>
              <a:ext uri="{FF2B5EF4-FFF2-40B4-BE49-F238E27FC236}">
                <a16:creationId xmlns:a16="http://schemas.microsoft.com/office/drawing/2014/main" id="{4DB9622B-1A72-9B1B-0DE6-2767D565DA3D}"/>
              </a:ext>
            </a:extLst>
          </p:cNvPr>
          <p:cNvSpPr/>
          <p:nvPr userDrawn="1"/>
        </p:nvSpPr>
        <p:spPr>
          <a:xfrm>
            <a:off x="0" y="6390861"/>
            <a:ext cx="12191999" cy="46713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descr="A red letter m on a black background&#10;&#10;AI-generated content may be incorrect.">
            <a:extLst>
              <a:ext uri="{FF2B5EF4-FFF2-40B4-BE49-F238E27FC236}">
                <a16:creationId xmlns:a16="http://schemas.microsoft.com/office/drawing/2014/main" id="{75A1D743-4B79-7605-09D5-1A0A08BE8FF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1048" y="6004361"/>
            <a:ext cx="1017104" cy="772999"/>
          </a:xfrm>
          <a:prstGeom prst="rect">
            <a:avLst/>
          </a:prstGeom>
        </p:spPr>
      </p:pic>
      <p:sp>
        <p:nvSpPr>
          <p:cNvPr id="6" name="Slide Number Placeholder 5">
            <a:extLst>
              <a:ext uri="{FF2B5EF4-FFF2-40B4-BE49-F238E27FC236}">
                <a16:creationId xmlns:a16="http://schemas.microsoft.com/office/drawing/2014/main" id="{E22AA33C-77B6-7B64-D562-5877D1E722E8}"/>
              </a:ext>
            </a:extLst>
          </p:cNvPr>
          <p:cNvSpPr>
            <a:spLocks noGrp="1"/>
          </p:cNvSpPr>
          <p:nvPr>
            <p:ph type="sldNum" sz="quarter" idx="4"/>
          </p:nvPr>
        </p:nvSpPr>
        <p:spPr>
          <a:xfrm>
            <a:off x="10936704" y="6438290"/>
            <a:ext cx="1154247" cy="365125"/>
          </a:xfrm>
          <a:prstGeom prst="rect">
            <a:avLst/>
          </a:prstGeom>
        </p:spPr>
        <p:txBody>
          <a:bodyPr vert="horz" lIns="91440" tIns="45720" rIns="91440" bIns="45720" rtlCol="0" anchor="ctr"/>
          <a:lstStyle>
            <a:lvl1pPr algn="r">
              <a:defRPr sz="1200" b="0">
                <a:solidFill>
                  <a:schemeClr val="tx1"/>
                </a:solidFill>
                <a:latin typeface="Times New Roman" panose="02020603050405020304" pitchFamily="18" charset="0"/>
                <a:cs typeface="Times New Roman" panose="02020603050405020304" pitchFamily="18" charset="0"/>
              </a:defRPr>
            </a:lvl1pPr>
          </a:lstStyle>
          <a:p>
            <a:fld id="{C45F31B8-6562-4A36-A35A-9CD554BAFD2A}" type="slidenum">
              <a:rPr lang="en-US" smtClean="0"/>
              <a:pPr/>
              <a:t>‹#›</a:t>
            </a:fld>
            <a:endParaRPr lang="en-US" b="0" dirty="0"/>
          </a:p>
        </p:txBody>
      </p:sp>
    </p:spTree>
    <p:extLst>
      <p:ext uri="{BB962C8B-B14F-4D97-AF65-F5344CB8AC3E}">
        <p14:creationId xmlns:p14="http://schemas.microsoft.com/office/powerpoint/2010/main" val="1768084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31_44F8EDD5.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jpg"/><Relationship Id="rId7" Type="http://schemas.openxmlformats.org/officeDocument/2006/relationships/image" Target="../media/image8.svg"/><Relationship Id="rId12" Type="http://schemas.openxmlformats.org/officeDocument/2006/relationships/image" Target="../media/image13.png"/><Relationship Id="rId2" Type="http://schemas.microsoft.com/office/2018/10/relationships/comments" Target="../comments/modernComment_120_AC051886.xml"/><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jp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5.jpg"/><Relationship Id="rId9" Type="http://schemas.openxmlformats.org/officeDocument/2006/relationships/image" Target="../media/image10.sv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microsoft.com/office/2018/10/relationships/comments" Target="../comments/modernComment_121_BBCB2D70.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23_9AA2122A.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36_81D57DC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A4019-C673-5C7A-25E4-7EA6927A3664}"/>
              </a:ext>
            </a:extLst>
          </p:cNvPr>
          <p:cNvSpPr>
            <a:spLocks noGrp="1"/>
          </p:cNvSpPr>
          <p:nvPr>
            <p:ph type="ctrTitle"/>
          </p:nvPr>
        </p:nvSpPr>
        <p:spPr>
          <a:xfrm>
            <a:off x="680851" y="1769423"/>
            <a:ext cx="10830296" cy="1165906"/>
          </a:xfrm>
        </p:spPr>
        <p:txBody>
          <a:bodyPr/>
          <a:lstStyle/>
          <a:p>
            <a:r>
              <a:rPr lang="en-US" sz="3000" b="1" dirty="0">
                <a:latin typeface="Times New Roman" panose="02020603050405020304" pitchFamily="18" charset="0"/>
                <a:cs typeface="Times New Roman" panose="02020603050405020304" pitchFamily="18" charset="0"/>
              </a:rPr>
              <a:t>Social Behavior Inference and Interaction Mapping using </a:t>
            </a:r>
            <a:br>
              <a:rPr lang="en-US" sz="3000" b="1" dirty="0">
                <a:latin typeface="Times New Roman" panose="02020603050405020304" pitchFamily="18" charset="0"/>
                <a:cs typeface="Times New Roman" panose="02020603050405020304" pitchFamily="18" charset="0"/>
              </a:rPr>
            </a:br>
            <a:r>
              <a:rPr lang="en-US" sz="3000" b="1" dirty="0" err="1">
                <a:latin typeface="Times New Roman" panose="02020603050405020304" pitchFamily="18" charset="0"/>
                <a:cs typeface="Times New Roman" panose="02020603050405020304" pitchFamily="18" charset="0"/>
              </a:rPr>
              <a:t>mmWave</a:t>
            </a:r>
            <a:r>
              <a:rPr lang="en-US" sz="3000" b="1" dirty="0">
                <a:latin typeface="Times New Roman" panose="02020603050405020304" pitchFamily="18" charset="0"/>
                <a:cs typeface="Times New Roman" panose="02020603050405020304" pitchFamily="18" charset="0"/>
              </a:rPr>
              <a:t> Radar </a:t>
            </a:r>
          </a:p>
        </p:txBody>
      </p:sp>
      <p:sp>
        <p:nvSpPr>
          <p:cNvPr id="3" name="Subtitle 2">
            <a:extLst>
              <a:ext uri="{FF2B5EF4-FFF2-40B4-BE49-F238E27FC236}">
                <a16:creationId xmlns:a16="http://schemas.microsoft.com/office/drawing/2014/main" id="{4A57AFFA-7367-557E-56A4-C1C155826103}"/>
              </a:ext>
            </a:extLst>
          </p:cNvPr>
          <p:cNvSpPr>
            <a:spLocks noGrp="1"/>
          </p:cNvSpPr>
          <p:nvPr>
            <p:ph type="subTitle" idx="4294967295"/>
          </p:nvPr>
        </p:nvSpPr>
        <p:spPr>
          <a:xfrm>
            <a:off x="3656714" y="3761731"/>
            <a:ext cx="4878571" cy="1655762"/>
          </a:xfrm>
          <a:prstGeom prst="rect">
            <a:avLst/>
          </a:prstGeom>
        </p:spPr>
        <p:txBody>
          <a:bodyPr/>
          <a:lstStyle/>
          <a:p>
            <a:pPr marL="0" indent="0" algn="ctr">
              <a:buNone/>
            </a:pPr>
            <a:r>
              <a:rPr lang="en-US" dirty="0">
                <a:latin typeface="Times New Roman" panose="02020603050405020304" pitchFamily="18" charset="0"/>
                <a:cs typeface="Times New Roman" panose="02020603050405020304" pitchFamily="18" charset="0"/>
              </a:rPr>
              <a:t>Md Fakhrul Alam</a:t>
            </a:r>
          </a:p>
          <a:p>
            <a:pPr marL="0" indent="0" algn="ctr">
              <a:buNone/>
            </a:pPr>
            <a:r>
              <a:rPr lang="en-US" sz="2000" dirty="0">
                <a:latin typeface="Times New Roman" panose="02020603050405020304" pitchFamily="18" charset="0"/>
                <a:cs typeface="Times New Roman" panose="02020603050405020304" pitchFamily="18" charset="0"/>
              </a:rPr>
              <a:t>Graduate Student</a:t>
            </a:r>
          </a:p>
          <a:p>
            <a:pPr marL="0" indent="0" algn="ctr">
              <a:buNone/>
            </a:pPr>
            <a:r>
              <a:rPr lang="en-US" sz="2000" dirty="0">
                <a:latin typeface="Times New Roman" panose="02020603050405020304" pitchFamily="18" charset="0"/>
                <a:cs typeface="Times New Roman" panose="02020603050405020304" pitchFamily="18" charset="0"/>
              </a:rPr>
              <a:t>Advisor: Dr. Veena </a:t>
            </a:r>
            <a:r>
              <a:rPr lang="en-US" sz="2000" dirty="0" err="1">
                <a:latin typeface="Times New Roman" panose="02020603050405020304" pitchFamily="18" charset="0"/>
                <a:cs typeface="Times New Roman" panose="02020603050405020304" pitchFamily="18" charset="0"/>
              </a:rPr>
              <a:t>Chidurala</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Electrical &amp; Computer Engineering</a:t>
            </a:r>
          </a:p>
          <a:p>
            <a:pPr marL="0" indent="0" algn="ctr">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736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134EF-BD76-4693-D769-97478A904A00}"/>
              </a:ext>
            </a:extLst>
          </p:cNvPr>
          <p:cNvSpPr>
            <a:spLocks noGrp="1"/>
          </p:cNvSpPr>
          <p:nvPr>
            <p:ph type="title" idx="4294967295"/>
          </p:nvPr>
        </p:nvSpPr>
        <p:spPr>
          <a:xfrm>
            <a:off x="481940" y="163245"/>
            <a:ext cx="10515600" cy="681707"/>
          </a:xfrm>
          <a:prstGeom prst="rect">
            <a:avLst/>
          </a:prstGeom>
        </p:spPr>
        <p:txBody>
          <a:bodyPr/>
          <a:lstStyle/>
          <a:p>
            <a:r>
              <a:rPr lang="en-US" sz="4200" b="1"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43E63C69-7B06-A730-0329-180C9F58F6F7}"/>
              </a:ext>
            </a:extLst>
          </p:cNvPr>
          <p:cNvSpPr>
            <a:spLocks noGrp="1"/>
          </p:cNvSpPr>
          <p:nvPr>
            <p:ph idx="1"/>
          </p:nvPr>
        </p:nvSpPr>
        <p:spPr>
          <a:xfrm>
            <a:off x="669697" y="742066"/>
            <a:ext cx="5105461" cy="5796846"/>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Introduction</a:t>
            </a:r>
          </a:p>
          <a:p>
            <a:pPr>
              <a:lnSpc>
                <a:spcPct val="150000"/>
              </a:lnSpc>
            </a:pPr>
            <a:r>
              <a:rPr lang="en-US" sz="2000" dirty="0">
                <a:latin typeface="Times New Roman" panose="02020603050405020304" pitchFamily="18" charset="0"/>
                <a:cs typeface="Times New Roman" panose="02020603050405020304" pitchFamily="18" charset="0"/>
              </a:rPr>
              <a:t>Problem Statement</a:t>
            </a:r>
          </a:p>
          <a:p>
            <a:pPr>
              <a:lnSpc>
                <a:spcPct val="150000"/>
              </a:lnSpc>
            </a:pPr>
            <a:r>
              <a:rPr lang="en-US" sz="2000" dirty="0">
                <a:latin typeface="Times New Roman" panose="02020603050405020304" pitchFamily="18" charset="0"/>
                <a:cs typeface="Times New Roman" panose="02020603050405020304" pitchFamily="18" charset="0"/>
              </a:rPr>
              <a:t>Literature Review</a:t>
            </a:r>
          </a:p>
          <a:p>
            <a:pPr>
              <a:lnSpc>
                <a:spcPct val="150000"/>
              </a:lnSpc>
            </a:pPr>
            <a:r>
              <a:rPr lang="en-US" sz="2000" dirty="0">
                <a:latin typeface="Times New Roman" panose="02020603050405020304" pitchFamily="18" charset="0"/>
                <a:cs typeface="Times New Roman" panose="02020603050405020304" pitchFamily="18" charset="0"/>
              </a:rPr>
              <a:t>Research Goal</a:t>
            </a:r>
          </a:p>
          <a:p>
            <a:pPr>
              <a:lnSpc>
                <a:spcPct val="150000"/>
              </a:lnSpc>
            </a:pPr>
            <a:r>
              <a:rPr lang="en-US" sz="2000" dirty="0">
                <a:latin typeface="Times New Roman" panose="02020603050405020304" pitchFamily="18" charset="0"/>
                <a:ea typeface="ADLaM Display" panose="020F0502020204030204" pitchFamily="2" charset="0"/>
                <a:cs typeface="Times New Roman" panose="02020603050405020304" pitchFamily="18" charset="0"/>
              </a:rPr>
              <a:t> </a:t>
            </a:r>
            <a:r>
              <a:rPr lang="en-US" sz="2000" dirty="0" err="1">
                <a:latin typeface="Times New Roman" panose="02020603050405020304" pitchFamily="18" charset="0"/>
                <a:ea typeface="ADLaM Display" panose="020F0502020204030204" pitchFamily="2" charset="0"/>
                <a:cs typeface="Times New Roman" panose="02020603050405020304" pitchFamily="18" charset="0"/>
              </a:rPr>
              <a:t>mmWave</a:t>
            </a:r>
            <a:r>
              <a:rPr lang="en-US" sz="2000" dirty="0">
                <a:latin typeface="Times New Roman" panose="02020603050405020304" pitchFamily="18" charset="0"/>
                <a:ea typeface="ADLaM Display" panose="020F0502020204030204" pitchFamily="2" charset="0"/>
                <a:cs typeface="Times New Roman" panose="02020603050405020304" pitchFamily="18" charset="0"/>
              </a:rPr>
              <a:t> Radar Fundamental</a:t>
            </a:r>
          </a:p>
          <a:p>
            <a:pPr>
              <a:lnSpc>
                <a:spcPct val="150000"/>
              </a:lnSpc>
            </a:pPr>
            <a:r>
              <a:rPr lang="en-US" sz="2000" dirty="0">
                <a:latin typeface="Times New Roman" panose="02020603050405020304" pitchFamily="18" charset="0"/>
                <a:ea typeface="ADLaM Display" panose="020F0502020204030204" pitchFamily="2" charset="0"/>
                <a:cs typeface="Times New Roman" panose="02020603050405020304" pitchFamily="18" charset="0"/>
              </a:rPr>
              <a:t>System Design/Model</a:t>
            </a:r>
          </a:p>
          <a:p>
            <a:pPr>
              <a:lnSpc>
                <a:spcPct val="150000"/>
              </a:lnSpc>
            </a:pPr>
            <a:r>
              <a:rPr lang="en-US" sz="2000" dirty="0">
                <a:latin typeface="Times New Roman" panose="02020603050405020304" pitchFamily="18" charset="0"/>
                <a:ea typeface="ADLaM Display" panose="020F0502020204030204" pitchFamily="2" charset="0"/>
                <a:cs typeface="Times New Roman" panose="02020603050405020304" pitchFamily="18" charset="0"/>
              </a:rPr>
              <a:t>Sensor Setup</a:t>
            </a:r>
          </a:p>
          <a:p>
            <a:pPr>
              <a:lnSpc>
                <a:spcPct val="150000"/>
              </a:lnSpc>
            </a:pPr>
            <a:r>
              <a:rPr lang="en-US" sz="2000" dirty="0">
                <a:latin typeface="Times New Roman" panose="02020603050405020304" pitchFamily="18" charset="0"/>
                <a:cs typeface="Times New Roman" panose="02020603050405020304" pitchFamily="18" charset="0"/>
              </a:rPr>
              <a:t>Data Acquisition</a:t>
            </a:r>
          </a:p>
          <a:p>
            <a:pPr>
              <a:lnSpc>
                <a:spcPct val="150000"/>
              </a:lnSpc>
            </a:pPr>
            <a:r>
              <a:rPr lang="en-US" sz="2000" dirty="0">
                <a:latin typeface="Times New Roman" panose="02020603050405020304" pitchFamily="18" charset="0"/>
                <a:cs typeface="Times New Roman" panose="02020603050405020304" pitchFamily="18" charset="0"/>
              </a:rPr>
              <a:t>ML Model</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E82C98E-7F14-A498-AF23-D563B43CCC20}"/>
              </a:ext>
            </a:extLst>
          </p:cNvPr>
          <p:cNvSpPr>
            <a:spLocks noGrp="1"/>
          </p:cNvSpPr>
          <p:nvPr>
            <p:ph type="sldNum" sz="quarter" idx="12"/>
          </p:nvPr>
        </p:nvSpPr>
        <p:spPr/>
        <p:txBody>
          <a:bodyPr/>
          <a:lstStyle/>
          <a:p>
            <a:fld id="{C45F31B8-6562-4A36-A35A-9CD554BAFD2A}" type="slidenum">
              <a:rPr lang="en-US" smtClean="0"/>
              <a:t>2</a:t>
            </a:fld>
            <a:endParaRPr lang="en-US"/>
          </a:p>
        </p:txBody>
      </p:sp>
      <p:sp>
        <p:nvSpPr>
          <p:cNvPr id="4" name="Content Placeholder 2">
            <a:extLst>
              <a:ext uri="{FF2B5EF4-FFF2-40B4-BE49-F238E27FC236}">
                <a16:creationId xmlns:a16="http://schemas.microsoft.com/office/drawing/2014/main" id="{B7A86C69-CC77-06BA-A1AD-DB5216203B59}"/>
              </a:ext>
            </a:extLst>
          </p:cNvPr>
          <p:cNvSpPr txBox="1">
            <a:spLocks/>
          </p:cNvSpPr>
          <p:nvPr/>
        </p:nvSpPr>
        <p:spPr>
          <a:xfrm>
            <a:off x="6416842" y="793509"/>
            <a:ext cx="5105461" cy="5796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000" dirty="0">
                <a:latin typeface="Times New Roman" panose="02020603050405020304" pitchFamily="18" charset="0"/>
                <a:cs typeface="Times New Roman" panose="02020603050405020304" pitchFamily="18" charset="0"/>
              </a:rPr>
              <a:t>Feature Vectorization</a:t>
            </a:r>
          </a:p>
          <a:p>
            <a:pPr>
              <a:lnSpc>
                <a:spcPct val="150000"/>
              </a:lnSpc>
            </a:pPr>
            <a:r>
              <a:rPr lang="en-US" sz="2000" dirty="0">
                <a:latin typeface="Times New Roman" panose="02020603050405020304" pitchFamily="18" charset="0"/>
                <a:cs typeface="Times New Roman" panose="02020603050405020304" pitchFamily="18" charset="0"/>
              </a:rPr>
              <a:t>Training</a:t>
            </a:r>
          </a:p>
          <a:p>
            <a:pPr>
              <a:lnSpc>
                <a:spcPct val="150000"/>
              </a:lnSpc>
            </a:pPr>
            <a:r>
              <a:rPr lang="en-US" sz="2000" dirty="0">
                <a:latin typeface="Times New Roman" panose="02020603050405020304" pitchFamily="18" charset="0"/>
                <a:cs typeface="Times New Roman" panose="02020603050405020304" pitchFamily="18" charset="0"/>
              </a:rPr>
              <a:t>Simulation ( platform, parameters)</a:t>
            </a:r>
          </a:p>
          <a:p>
            <a:pPr>
              <a:lnSpc>
                <a:spcPct val="150000"/>
              </a:lnSpc>
            </a:pPr>
            <a:r>
              <a:rPr lang="en-US" sz="2000" dirty="0">
                <a:latin typeface="Times New Roman" panose="02020603050405020304" pitchFamily="18" charset="0"/>
                <a:cs typeface="Times New Roman" panose="02020603050405020304" pitchFamily="18" charset="0"/>
              </a:rPr>
              <a:t>Preliminary Results</a:t>
            </a:r>
          </a:p>
          <a:p>
            <a:pPr>
              <a:lnSpc>
                <a:spcPct val="150000"/>
              </a:lnSpc>
            </a:pPr>
            <a:r>
              <a:rPr lang="en-US" sz="2000" dirty="0">
                <a:latin typeface="Times New Roman" panose="02020603050405020304" pitchFamily="18" charset="0"/>
                <a:cs typeface="Times New Roman" panose="02020603050405020304" pitchFamily="18" charset="0"/>
              </a:rPr>
              <a:t>Future Results</a:t>
            </a:r>
          </a:p>
          <a:p>
            <a:pPr>
              <a:lnSpc>
                <a:spcPct val="150000"/>
              </a:lnSpc>
            </a:pPr>
            <a:r>
              <a:rPr lang="en-US" sz="20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025244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3CB087-8A0C-3197-05BD-34E12E1DE434}"/>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295DBFED-065D-DAFE-8DBD-C6FFD7E27FBB}"/>
              </a:ext>
            </a:extLst>
          </p:cNvPr>
          <p:cNvSpPr>
            <a:spLocks noGrp="1"/>
          </p:cNvSpPr>
          <p:nvPr>
            <p:ph type="sldNum" sz="quarter" idx="12"/>
          </p:nvPr>
        </p:nvSpPr>
        <p:spPr/>
        <p:txBody>
          <a:bodyPr/>
          <a:lstStyle/>
          <a:p>
            <a:fld id="{C45F31B8-6562-4A36-A35A-9CD554BAFD2A}" type="slidenum">
              <a:rPr lang="en-US" smtClean="0"/>
              <a:t>3</a:t>
            </a:fld>
            <a:endParaRPr lang="en-US"/>
          </a:p>
        </p:txBody>
      </p:sp>
      <p:sp>
        <p:nvSpPr>
          <p:cNvPr id="4" name="TextBox 3">
            <a:extLst>
              <a:ext uri="{FF2B5EF4-FFF2-40B4-BE49-F238E27FC236}">
                <a16:creationId xmlns:a16="http://schemas.microsoft.com/office/drawing/2014/main" id="{8FCBF731-F0C3-0B22-D94E-3126FB5DD705}"/>
              </a:ext>
            </a:extLst>
          </p:cNvPr>
          <p:cNvSpPr txBox="1"/>
          <p:nvPr/>
        </p:nvSpPr>
        <p:spPr>
          <a:xfrm>
            <a:off x="494817" y="126510"/>
            <a:ext cx="6105644" cy="738664"/>
          </a:xfrm>
          <a:prstGeom prst="rect">
            <a:avLst/>
          </a:prstGeom>
          <a:noFill/>
        </p:spPr>
        <p:txBody>
          <a:bodyPr wrap="square">
            <a:spAutoFit/>
          </a:bodyPr>
          <a:lstStyle/>
          <a:p>
            <a:r>
              <a:rPr lang="en-US" sz="4200" b="1" dirty="0">
                <a:latin typeface="Times New Roman" panose="02020603050405020304" pitchFamily="18" charset="0"/>
                <a:cs typeface="Times New Roman" panose="02020603050405020304" pitchFamily="18" charset="0"/>
              </a:rPr>
              <a:t>Introduction</a:t>
            </a:r>
            <a:endParaRPr lang="en-US" sz="4200" dirty="0"/>
          </a:p>
        </p:txBody>
      </p:sp>
    </p:spTree>
    <p:extLst>
      <p:ext uri="{BB962C8B-B14F-4D97-AF65-F5344CB8AC3E}">
        <p14:creationId xmlns:p14="http://schemas.microsoft.com/office/powerpoint/2010/main" val="1157164501"/>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677EB0-4114-5DEE-7255-1AEE8F7E34A6}"/>
              </a:ext>
            </a:extLst>
          </p:cNvPr>
          <p:cNvSpPr>
            <a:spLocks noGrp="1"/>
          </p:cNvSpPr>
          <p:nvPr>
            <p:ph idx="1"/>
          </p:nvPr>
        </p:nvSpPr>
        <p:spPr>
          <a:xfrm>
            <a:off x="494817" y="1253331"/>
            <a:ext cx="4401274" cy="1293099"/>
          </a:xfrm>
        </p:spPr>
        <p:txBody>
          <a:bodyPr/>
          <a:lstStyle/>
          <a:p>
            <a:pPr algn="just">
              <a:buFont typeface="Wingdings" panose="05000000000000000000" pitchFamily="2" charset="2"/>
              <a:buChar char="Ø"/>
            </a:pPr>
            <a:r>
              <a:rPr lang="en-US" dirty="0"/>
              <a:t> </a:t>
            </a:r>
            <a:r>
              <a:rPr lang="en-US" b="1" dirty="0" err="1">
                <a:latin typeface="Times New Roman" panose="02020603050405020304" pitchFamily="18" charset="0"/>
                <a:cs typeface="Times New Roman" panose="02020603050405020304" pitchFamily="18" charset="0"/>
              </a:rPr>
              <a:t>mmWave</a:t>
            </a:r>
            <a:r>
              <a:rPr lang="en-US" b="1" dirty="0">
                <a:latin typeface="Times New Roman" panose="02020603050405020304" pitchFamily="18" charset="0"/>
                <a:cs typeface="Times New Roman" panose="02020603050405020304" pitchFamily="18" charset="0"/>
              </a:rPr>
              <a:t> Radar Sensors</a:t>
            </a:r>
          </a:p>
          <a:p>
            <a:pPr marL="0" indent="0" algn="just">
              <a:buNone/>
            </a:pPr>
            <a:r>
              <a:rPr lang="en-US" sz="1600" dirty="0">
                <a:latin typeface="Times New Roman" panose="02020603050405020304" pitchFamily="18" charset="0"/>
                <a:cs typeface="Times New Roman" panose="02020603050405020304" pitchFamily="18" charset="0"/>
              </a:rPr>
              <a:t>High frequency sensing technology detects human motion and position by analyzing reflected radio waves</a:t>
            </a:r>
          </a:p>
        </p:txBody>
      </p:sp>
      <p:sp>
        <p:nvSpPr>
          <p:cNvPr id="3" name="Slide Number Placeholder 2">
            <a:extLst>
              <a:ext uri="{FF2B5EF4-FFF2-40B4-BE49-F238E27FC236}">
                <a16:creationId xmlns:a16="http://schemas.microsoft.com/office/drawing/2014/main" id="{47DBBF7E-0522-3ECC-705B-9FC7AC9816FB}"/>
              </a:ext>
            </a:extLst>
          </p:cNvPr>
          <p:cNvSpPr>
            <a:spLocks noGrp="1"/>
          </p:cNvSpPr>
          <p:nvPr>
            <p:ph type="sldNum" sz="quarter" idx="12"/>
          </p:nvPr>
        </p:nvSpPr>
        <p:spPr/>
        <p:txBody>
          <a:bodyPr/>
          <a:lstStyle/>
          <a:p>
            <a:fld id="{C45F31B8-6562-4A36-A35A-9CD554BAFD2A}" type="slidenum">
              <a:rPr lang="en-US" smtClean="0"/>
              <a:t>4</a:t>
            </a:fld>
            <a:endParaRPr lang="en-US"/>
          </a:p>
        </p:txBody>
      </p:sp>
      <p:sp>
        <p:nvSpPr>
          <p:cNvPr id="5" name="TextBox 4">
            <a:extLst>
              <a:ext uri="{FF2B5EF4-FFF2-40B4-BE49-F238E27FC236}">
                <a16:creationId xmlns:a16="http://schemas.microsoft.com/office/drawing/2014/main" id="{3BF8F0D4-2CED-EA15-EDA1-730F05FF0008}"/>
              </a:ext>
            </a:extLst>
          </p:cNvPr>
          <p:cNvSpPr txBox="1"/>
          <p:nvPr/>
        </p:nvSpPr>
        <p:spPr>
          <a:xfrm>
            <a:off x="494817" y="126510"/>
            <a:ext cx="6105644" cy="738664"/>
          </a:xfrm>
          <a:prstGeom prst="rect">
            <a:avLst/>
          </a:prstGeom>
          <a:noFill/>
        </p:spPr>
        <p:txBody>
          <a:bodyPr wrap="square">
            <a:spAutoFit/>
          </a:bodyPr>
          <a:lstStyle/>
          <a:p>
            <a:r>
              <a:rPr lang="en-US" sz="4200" b="1" dirty="0">
                <a:latin typeface="Times New Roman" panose="02020603050405020304" pitchFamily="18" charset="0"/>
                <a:cs typeface="Times New Roman" panose="02020603050405020304" pitchFamily="18" charset="0"/>
              </a:rPr>
              <a:t>Introduction</a:t>
            </a:r>
            <a:endParaRPr lang="en-US" sz="4200" dirty="0"/>
          </a:p>
        </p:txBody>
      </p:sp>
      <p:sp>
        <p:nvSpPr>
          <p:cNvPr id="8" name="TextBox 7">
            <a:extLst>
              <a:ext uri="{FF2B5EF4-FFF2-40B4-BE49-F238E27FC236}">
                <a16:creationId xmlns:a16="http://schemas.microsoft.com/office/drawing/2014/main" id="{C9397FC0-8411-9EE6-89FE-0601E6D09B5A}"/>
              </a:ext>
            </a:extLst>
          </p:cNvPr>
          <p:cNvSpPr txBox="1"/>
          <p:nvPr/>
        </p:nvSpPr>
        <p:spPr>
          <a:xfrm>
            <a:off x="6952526" y="4271058"/>
            <a:ext cx="4401274" cy="1538883"/>
          </a:xfrm>
          <a:prstGeom prst="rect">
            <a:avLst/>
          </a:prstGeom>
          <a:noFill/>
        </p:spPr>
        <p:txBody>
          <a:bodyPr wrap="square" rtlCol="0">
            <a:spAutoFit/>
          </a:bodyPr>
          <a:lstStyle/>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 Advantages</a:t>
            </a:r>
          </a:p>
          <a:p>
            <a:pPr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Privacy- preserving</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Environmental Flexibility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Micro motion Detection</a:t>
            </a:r>
          </a:p>
        </p:txBody>
      </p:sp>
      <p:sp>
        <p:nvSpPr>
          <p:cNvPr id="9" name="AutoShape 4">
            <a:extLst>
              <a:ext uri="{FF2B5EF4-FFF2-40B4-BE49-F238E27FC236}">
                <a16:creationId xmlns:a16="http://schemas.microsoft.com/office/drawing/2014/main" id="{DB8615D1-B7CC-FA4B-FB36-B086F632644D}"/>
              </a:ext>
            </a:extLst>
          </p:cNvPr>
          <p:cNvSpPr>
            <a:spLocks noChangeAspect="1" noChangeArrowheads="1"/>
          </p:cNvSpPr>
          <p:nvPr/>
        </p:nvSpPr>
        <p:spPr bwMode="auto">
          <a:xfrm>
            <a:off x="5943599" y="3276599"/>
            <a:ext cx="3316147" cy="33161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DF0726A0-539D-4193-C35E-DD86D498B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272" y="1079856"/>
            <a:ext cx="6268656" cy="2586942"/>
          </a:xfrm>
          <a:prstGeom prst="rect">
            <a:avLst/>
          </a:prstGeom>
        </p:spPr>
      </p:pic>
      <p:sp>
        <p:nvSpPr>
          <p:cNvPr id="12" name="Content Placeholder 1">
            <a:extLst>
              <a:ext uri="{FF2B5EF4-FFF2-40B4-BE49-F238E27FC236}">
                <a16:creationId xmlns:a16="http://schemas.microsoft.com/office/drawing/2014/main" id="{DA5996CF-91E3-E2EC-DF41-15C1E4100C52}"/>
              </a:ext>
            </a:extLst>
          </p:cNvPr>
          <p:cNvSpPr txBox="1">
            <a:spLocks/>
          </p:cNvSpPr>
          <p:nvPr/>
        </p:nvSpPr>
        <p:spPr>
          <a:xfrm>
            <a:off x="543525" y="3301108"/>
            <a:ext cx="4401274" cy="20209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Applications</a:t>
            </a:r>
          </a:p>
          <a:p>
            <a:pPr marL="0" indent="0" algn="jus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Healthcare monitoring , smart home occupancy sensing, security and surveillance systems, robotics or autonomous navigation, etc.</a:t>
            </a:r>
          </a:p>
        </p:txBody>
      </p:sp>
    </p:spTree>
    <p:extLst>
      <p:ext uri="{BB962C8B-B14F-4D97-AF65-F5344CB8AC3E}">
        <p14:creationId xmlns:p14="http://schemas.microsoft.com/office/powerpoint/2010/main" val="115472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8"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5821F5-6DF4-B384-C136-552770C29C28}"/>
              </a:ext>
            </a:extLst>
          </p:cNvPr>
          <p:cNvSpPr txBox="1"/>
          <p:nvPr/>
        </p:nvSpPr>
        <p:spPr>
          <a:xfrm>
            <a:off x="494817" y="126510"/>
            <a:ext cx="9922398" cy="738664"/>
          </a:xfrm>
          <a:prstGeom prst="rect">
            <a:avLst/>
          </a:prstGeom>
          <a:noFill/>
        </p:spPr>
        <p:txBody>
          <a:bodyPr wrap="square">
            <a:spAutoFit/>
          </a:bodyPr>
          <a:lstStyle/>
          <a:p>
            <a:r>
              <a:rPr lang="en-US" sz="4200" b="1" dirty="0">
                <a:latin typeface="Times New Roman" panose="02020603050405020304" pitchFamily="18" charset="0"/>
                <a:cs typeface="Times New Roman" panose="02020603050405020304" pitchFamily="18" charset="0"/>
              </a:rPr>
              <a:t>Introduction – </a:t>
            </a:r>
            <a:r>
              <a:rPr lang="en-US" sz="4200" b="1" dirty="0" err="1">
                <a:latin typeface="Times New Roman" panose="02020603050405020304" pitchFamily="18" charset="0"/>
                <a:cs typeface="Times New Roman" panose="02020603050405020304" pitchFamily="18" charset="0"/>
              </a:rPr>
              <a:t>mmwave</a:t>
            </a:r>
            <a:r>
              <a:rPr lang="en-US" sz="4200" b="1" dirty="0">
                <a:latin typeface="Times New Roman" panose="02020603050405020304" pitchFamily="18" charset="0"/>
                <a:cs typeface="Times New Roman" panose="02020603050405020304" pitchFamily="18" charset="0"/>
              </a:rPr>
              <a:t> radar on HAR</a:t>
            </a:r>
            <a:endParaRPr lang="en-US" sz="4200" dirty="0"/>
          </a:p>
        </p:txBody>
      </p:sp>
      <p:sp>
        <p:nvSpPr>
          <p:cNvPr id="9" name="TextBox 8">
            <a:extLst>
              <a:ext uri="{FF2B5EF4-FFF2-40B4-BE49-F238E27FC236}">
                <a16:creationId xmlns:a16="http://schemas.microsoft.com/office/drawing/2014/main" id="{FB88B37B-4DD1-80FC-8905-40243B4E2851}"/>
              </a:ext>
            </a:extLst>
          </p:cNvPr>
          <p:cNvSpPr txBox="1"/>
          <p:nvPr/>
        </p:nvSpPr>
        <p:spPr>
          <a:xfrm>
            <a:off x="983848" y="1245733"/>
            <a:ext cx="9753510"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Human Activity Recognition </a:t>
            </a:r>
            <a:r>
              <a:rPr lang="en-US" b="1" dirty="0">
                <a:latin typeface="Times New Roman" panose="02020603050405020304" pitchFamily="18" charset="0"/>
                <a:cs typeface="Times New Roman" panose="02020603050405020304" pitchFamily="18" charset="0"/>
              </a:rPr>
              <a:t>(HAR): </a:t>
            </a:r>
            <a:r>
              <a:rPr lang="en-US" dirty="0">
                <a:latin typeface="Times New Roman" panose="02020603050405020304" pitchFamily="18" charset="0"/>
                <a:cs typeface="Times New Roman" panose="02020603050405020304" pitchFamily="18" charset="0"/>
              </a:rPr>
              <a:t>Automatic identification of human actions such as walking,    sitting, standing, and gestures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Crucial for elderly assisted living, fall detection, healthcare monitoring, and safety application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Available Sensing Technologies:  Camera, Lidar, Wearable, Radar, etc. </a:t>
            </a:r>
          </a:p>
        </p:txBody>
      </p:sp>
      <p:sp>
        <p:nvSpPr>
          <p:cNvPr id="3" name="Slide Number Placeholder 2">
            <a:extLst>
              <a:ext uri="{FF2B5EF4-FFF2-40B4-BE49-F238E27FC236}">
                <a16:creationId xmlns:a16="http://schemas.microsoft.com/office/drawing/2014/main" id="{E4605CA2-3C9D-2802-6572-9573A4A4F3B7}"/>
              </a:ext>
            </a:extLst>
          </p:cNvPr>
          <p:cNvSpPr>
            <a:spLocks noGrp="1"/>
          </p:cNvSpPr>
          <p:nvPr>
            <p:ph type="sldNum" sz="quarter" idx="12"/>
          </p:nvPr>
        </p:nvSpPr>
        <p:spPr/>
        <p:txBody>
          <a:bodyPr/>
          <a:lstStyle/>
          <a:p>
            <a:fld id="{C45F31B8-6562-4A36-A35A-9CD554BAFD2A}" type="slidenum">
              <a:rPr lang="en-US" smtClean="0"/>
              <a:t>5</a:t>
            </a:fld>
            <a:endParaRPr lang="en-US"/>
          </a:p>
        </p:txBody>
      </p:sp>
      <p:pic>
        <p:nvPicPr>
          <p:cNvPr id="18" name="Picture 17">
            <a:extLst>
              <a:ext uri="{FF2B5EF4-FFF2-40B4-BE49-F238E27FC236}">
                <a16:creationId xmlns:a16="http://schemas.microsoft.com/office/drawing/2014/main" id="{0F659B4E-9E0A-A2B1-3B29-8E6555434765}"/>
              </a:ext>
            </a:extLst>
          </p:cNvPr>
          <p:cNvPicPr>
            <a:picLocks noChangeAspect="1"/>
          </p:cNvPicPr>
          <p:nvPr/>
        </p:nvPicPr>
        <p:blipFill>
          <a:blip r:embed="rId2"/>
          <a:stretch>
            <a:fillRect/>
          </a:stretch>
        </p:blipFill>
        <p:spPr>
          <a:xfrm>
            <a:off x="983848" y="3540966"/>
            <a:ext cx="10684920" cy="2428910"/>
          </a:xfrm>
          <a:prstGeom prst="rect">
            <a:avLst/>
          </a:prstGeom>
        </p:spPr>
      </p:pic>
    </p:spTree>
    <p:extLst>
      <p:ext uri="{BB962C8B-B14F-4D97-AF65-F5344CB8AC3E}">
        <p14:creationId xmlns:p14="http://schemas.microsoft.com/office/powerpoint/2010/main" val="39779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A652-B618-B748-2711-5472E820857B}"/>
              </a:ext>
            </a:extLst>
          </p:cNvPr>
          <p:cNvSpPr>
            <a:spLocks noGrp="1"/>
          </p:cNvSpPr>
          <p:nvPr>
            <p:ph type="title" idx="4294967295"/>
          </p:nvPr>
        </p:nvSpPr>
        <p:spPr>
          <a:xfrm>
            <a:off x="386939" y="145881"/>
            <a:ext cx="3698924" cy="640062"/>
          </a:xfrm>
          <a:prstGeom prst="rect">
            <a:avLst/>
          </a:prstGeom>
        </p:spPr>
        <p:txBody>
          <a:bodyPr/>
          <a:lstStyle/>
          <a:p>
            <a:r>
              <a:rPr lang="en-US" sz="4200" b="1" dirty="0">
                <a:latin typeface="Times New Roman" panose="02020603050405020304" pitchFamily="18" charset="0"/>
                <a:cs typeface="Times New Roman" panose="02020603050405020304" pitchFamily="18" charset="0"/>
              </a:rPr>
              <a:t>Introduction</a:t>
            </a:r>
            <a:br>
              <a:rPr lang="en-US" sz="4200" dirty="0">
                <a:latin typeface="Times New Roman" panose="02020603050405020304" pitchFamily="18" charset="0"/>
                <a:cs typeface="Times New Roman" panose="02020603050405020304" pitchFamily="18" charset="0"/>
              </a:rPr>
            </a:br>
            <a:endParaRPr lang="en-US" sz="4200" b="1"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DB450F79-B853-9C56-058B-2D9CCE66A11F}"/>
              </a:ext>
            </a:extLst>
          </p:cNvPr>
          <p:cNvSpPr txBox="1"/>
          <p:nvPr/>
        </p:nvSpPr>
        <p:spPr>
          <a:xfrm>
            <a:off x="6455922" y="5702726"/>
            <a:ext cx="578370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 Predicting social behavior in a smart space</a:t>
            </a:r>
          </a:p>
        </p:txBody>
      </p:sp>
      <p:sp>
        <p:nvSpPr>
          <p:cNvPr id="5" name="Slide Number Placeholder 4">
            <a:extLst>
              <a:ext uri="{FF2B5EF4-FFF2-40B4-BE49-F238E27FC236}">
                <a16:creationId xmlns:a16="http://schemas.microsoft.com/office/drawing/2014/main" id="{85E6AFB2-D76E-01A1-80F2-12C78B13B109}"/>
              </a:ext>
            </a:extLst>
          </p:cNvPr>
          <p:cNvSpPr>
            <a:spLocks noGrp="1"/>
          </p:cNvSpPr>
          <p:nvPr>
            <p:ph type="sldNum" sz="quarter" idx="12"/>
          </p:nvPr>
        </p:nvSpPr>
        <p:spPr/>
        <p:txBody>
          <a:bodyPr/>
          <a:lstStyle/>
          <a:p>
            <a:fld id="{C45F31B8-6562-4A36-A35A-9CD554BAFD2A}" type="slidenum">
              <a:rPr lang="en-US" smtClean="0"/>
              <a:t>6</a:t>
            </a:fld>
            <a:endParaRPr lang="en-US"/>
          </a:p>
        </p:txBody>
      </p:sp>
      <p:grpSp>
        <p:nvGrpSpPr>
          <p:cNvPr id="33" name="Group 32">
            <a:extLst>
              <a:ext uri="{FF2B5EF4-FFF2-40B4-BE49-F238E27FC236}">
                <a16:creationId xmlns:a16="http://schemas.microsoft.com/office/drawing/2014/main" id="{C25B9C8D-E604-87FE-184F-3EAA17DF263D}"/>
              </a:ext>
            </a:extLst>
          </p:cNvPr>
          <p:cNvGrpSpPr/>
          <p:nvPr/>
        </p:nvGrpSpPr>
        <p:grpSpPr>
          <a:xfrm>
            <a:off x="6434943" y="1044658"/>
            <a:ext cx="5923101" cy="4383232"/>
            <a:chOff x="4849809" y="1302577"/>
            <a:chExt cx="7806910" cy="4417999"/>
          </a:xfrm>
        </p:grpSpPr>
        <p:pic>
          <p:nvPicPr>
            <p:cNvPr id="34" name="Picture 33" descr="A group of people sitting in chairs">
              <a:extLst>
                <a:ext uri="{FF2B5EF4-FFF2-40B4-BE49-F238E27FC236}">
                  <a16:creationId xmlns:a16="http://schemas.microsoft.com/office/drawing/2014/main" id="{56E00DD7-7FE5-E786-BA77-2CE7A1C9F1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1993" y="3685358"/>
              <a:ext cx="1267702" cy="686257"/>
            </a:xfrm>
            <a:prstGeom prst="rect">
              <a:avLst/>
            </a:prstGeom>
          </p:spPr>
        </p:pic>
        <p:pic>
          <p:nvPicPr>
            <p:cNvPr id="35" name="Picture 34" descr="A group of people standing in a row&#10;&#10;AI-generated content may be incorrect.">
              <a:extLst>
                <a:ext uri="{FF2B5EF4-FFF2-40B4-BE49-F238E27FC236}">
                  <a16:creationId xmlns:a16="http://schemas.microsoft.com/office/drawing/2014/main" id="{55156DF8-7BF1-1140-00CD-DB78D6D7BD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2510" y="4624671"/>
              <a:ext cx="1256539" cy="638305"/>
            </a:xfrm>
            <a:prstGeom prst="rect">
              <a:avLst/>
            </a:prstGeom>
          </p:spPr>
        </p:pic>
        <p:pic>
          <p:nvPicPr>
            <p:cNvPr id="36" name="Picture 35" descr="A silhouettes of people walking">
              <a:extLst>
                <a:ext uri="{FF2B5EF4-FFF2-40B4-BE49-F238E27FC236}">
                  <a16:creationId xmlns:a16="http://schemas.microsoft.com/office/drawing/2014/main" id="{50F8D56F-2F19-7D46-6DC0-7265D20738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9899" y="4649282"/>
              <a:ext cx="962095" cy="650306"/>
            </a:xfrm>
            <a:prstGeom prst="rect">
              <a:avLst/>
            </a:prstGeom>
          </p:spPr>
        </p:pic>
        <p:sp>
          <p:nvSpPr>
            <p:cNvPr id="37" name="Rectangle: Rounded Corners 36">
              <a:extLst>
                <a:ext uri="{FF2B5EF4-FFF2-40B4-BE49-F238E27FC236}">
                  <a16:creationId xmlns:a16="http://schemas.microsoft.com/office/drawing/2014/main" id="{93DA2BB3-F3CC-ED1F-6E68-265C234C278C}"/>
                </a:ext>
              </a:extLst>
            </p:cNvPr>
            <p:cNvSpPr/>
            <p:nvPr/>
          </p:nvSpPr>
          <p:spPr>
            <a:xfrm>
              <a:off x="5113561" y="2509678"/>
              <a:ext cx="3707055" cy="3210898"/>
            </a:xfrm>
            <a:prstGeom prst="roundRect">
              <a:avLst/>
            </a:prstGeom>
            <a:noFill/>
            <a:ln>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AD02CCCF-C7C2-64DC-15B3-5F3DBCEB0A25}"/>
                </a:ext>
              </a:extLst>
            </p:cNvPr>
            <p:cNvSpPr>
              <a:spLocks/>
            </p:cNvSpPr>
            <p:nvPr/>
          </p:nvSpPr>
          <p:spPr>
            <a:xfrm>
              <a:off x="5245707" y="5325805"/>
              <a:ext cx="1256538" cy="10158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latin typeface="Times New Roman" panose="02020603050405020304" pitchFamily="18" charset="0"/>
                  <a:cs typeface="Times New Roman" panose="02020603050405020304" pitchFamily="18" charset="0"/>
                </a:rPr>
                <a:t>Group Walking</a:t>
              </a:r>
            </a:p>
          </p:txBody>
        </p:sp>
        <p:sp>
          <p:nvSpPr>
            <p:cNvPr id="39" name="Rectangle 38">
              <a:extLst>
                <a:ext uri="{FF2B5EF4-FFF2-40B4-BE49-F238E27FC236}">
                  <a16:creationId xmlns:a16="http://schemas.microsoft.com/office/drawing/2014/main" id="{9D2AF670-C7FC-FC8B-E522-2548807FE2BE}"/>
                </a:ext>
              </a:extLst>
            </p:cNvPr>
            <p:cNvSpPr>
              <a:spLocks/>
            </p:cNvSpPr>
            <p:nvPr/>
          </p:nvSpPr>
          <p:spPr>
            <a:xfrm>
              <a:off x="6310919" y="4562820"/>
              <a:ext cx="1017323" cy="172923"/>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latin typeface="Times New Roman" panose="02020603050405020304" pitchFamily="18" charset="0"/>
                  <a:cs typeface="Times New Roman" panose="02020603050405020304" pitchFamily="18" charset="0"/>
                </a:rPr>
                <a:t>Group Sitting</a:t>
              </a:r>
            </a:p>
          </p:txBody>
        </p:sp>
        <p:sp>
          <p:nvSpPr>
            <p:cNvPr id="40" name="Rectangle 39">
              <a:extLst>
                <a:ext uri="{FF2B5EF4-FFF2-40B4-BE49-F238E27FC236}">
                  <a16:creationId xmlns:a16="http://schemas.microsoft.com/office/drawing/2014/main" id="{5687AA7F-68CB-9C26-EFA1-2AE3AEA42629}"/>
                </a:ext>
              </a:extLst>
            </p:cNvPr>
            <p:cNvSpPr>
              <a:spLocks/>
            </p:cNvSpPr>
            <p:nvPr/>
          </p:nvSpPr>
          <p:spPr>
            <a:xfrm>
              <a:off x="7328243" y="5382499"/>
              <a:ext cx="1268640" cy="14937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latin typeface="Times New Roman" panose="02020603050405020304" pitchFamily="18" charset="0"/>
                  <a:cs typeface="Times New Roman" panose="02020603050405020304" pitchFamily="18" charset="0"/>
                </a:rPr>
                <a:t>Group Standing</a:t>
              </a:r>
            </a:p>
          </p:txBody>
        </p:sp>
        <p:pic>
          <p:nvPicPr>
            <p:cNvPr id="41" name="Graphic 40" descr="Security camera with solid fill">
              <a:extLst>
                <a:ext uri="{FF2B5EF4-FFF2-40B4-BE49-F238E27FC236}">
                  <a16:creationId xmlns:a16="http://schemas.microsoft.com/office/drawing/2014/main" id="{040EFCCF-4643-A13F-4160-CFF6905093A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35256" y="2820321"/>
              <a:ext cx="585698" cy="571172"/>
            </a:xfrm>
            <a:prstGeom prst="rect">
              <a:avLst/>
            </a:prstGeom>
          </p:spPr>
        </p:pic>
        <p:pic>
          <p:nvPicPr>
            <p:cNvPr id="42" name="Graphic 41" descr="Radio microphone with solid fill">
              <a:extLst>
                <a:ext uri="{FF2B5EF4-FFF2-40B4-BE49-F238E27FC236}">
                  <a16:creationId xmlns:a16="http://schemas.microsoft.com/office/drawing/2014/main" id="{642CB232-7A51-47FF-5796-028A03158B7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5960" y="2864763"/>
              <a:ext cx="585698" cy="376771"/>
            </a:xfrm>
            <a:prstGeom prst="rect">
              <a:avLst/>
            </a:prstGeom>
          </p:spPr>
        </p:pic>
        <p:pic>
          <p:nvPicPr>
            <p:cNvPr id="43" name="Graphic 42" descr="Radar Chart outline">
              <a:extLst>
                <a:ext uri="{FF2B5EF4-FFF2-40B4-BE49-F238E27FC236}">
                  <a16:creationId xmlns:a16="http://schemas.microsoft.com/office/drawing/2014/main" id="{46A7E40D-D0DB-75AA-D217-3F0665C940C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70608" y="2814364"/>
              <a:ext cx="585698" cy="540701"/>
            </a:xfrm>
            <a:prstGeom prst="rect">
              <a:avLst/>
            </a:prstGeom>
          </p:spPr>
        </p:pic>
        <p:sp>
          <p:nvSpPr>
            <p:cNvPr id="44" name="Rectangle 43">
              <a:extLst>
                <a:ext uri="{FF2B5EF4-FFF2-40B4-BE49-F238E27FC236}">
                  <a16:creationId xmlns:a16="http://schemas.microsoft.com/office/drawing/2014/main" id="{0FD9DE24-68F3-853D-F2BB-05D3B8763678}"/>
                </a:ext>
              </a:extLst>
            </p:cNvPr>
            <p:cNvSpPr/>
            <p:nvPr/>
          </p:nvSpPr>
          <p:spPr>
            <a:xfrm>
              <a:off x="5526936" y="2738901"/>
              <a:ext cx="2813209" cy="69340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Up 44">
              <a:extLst>
                <a:ext uri="{FF2B5EF4-FFF2-40B4-BE49-F238E27FC236}">
                  <a16:creationId xmlns:a16="http://schemas.microsoft.com/office/drawing/2014/main" id="{E7300127-790C-4C11-0E2C-4F29978D2975}"/>
                </a:ext>
              </a:extLst>
            </p:cNvPr>
            <p:cNvSpPr/>
            <p:nvPr/>
          </p:nvSpPr>
          <p:spPr>
            <a:xfrm>
              <a:off x="6671194" y="2356781"/>
              <a:ext cx="262346" cy="380345"/>
            </a:xfrm>
            <a:prstGeom prst="upArrow">
              <a:avLst>
                <a:gd name="adj1" fmla="val 50000"/>
                <a:gd name="adj2" fmla="val 4700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EBFFAD0-B482-8423-71E0-0573DBE25E6B}"/>
                </a:ext>
              </a:extLst>
            </p:cNvPr>
            <p:cNvSpPr>
              <a:spLocks/>
            </p:cNvSpPr>
            <p:nvPr/>
          </p:nvSpPr>
          <p:spPr>
            <a:xfrm>
              <a:off x="7854766" y="1302577"/>
              <a:ext cx="1542737" cy="30722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b="1" dirty="0">
                  <a:latin typeface="Times New Roman" panose="02020603050405020304" pitchFamily="18" charset="0"/>
                  <a:cs typeface="Times New Roman" panose="02020603050405020304" pitchFamily="18" charset="0"/>
                </a:rPr>
                <a:t>Preprocessing and Applying ML Model</a:t>
              </a:r>
            </a:p>
          </p:txBody>
        </p:sp>
        <p:cxnSp>
          <p:nvCxnSpPr>
            <p:cNvPr id="47" name="Straight Arrow Connector 46">
              <a:extLst>
                <a:ext uri="{FF2B5EF4-FFF2-40B4-BE49-F238E27FC236}">
                  <a16:creationId xmlns:a16="http://schemas.microsoft.com/office/drawing/2014/main" id="{25CD4043-CB66-903F-FC2C-3DD60B64310A}"/>
                </a:ext>
              </a:extLst>
            </p:cNvPr>
            <p:cNvCxnSpPr>
              <a:cxnSpLocks/>
            </p:cNvCxnSpPr>
            <p:nvPr/>
          </p:nvCxnSpPr>
          <p:spPr>
            <a:xfrm flipV="1">
              <a:off x="5535256" y="3472914"/>
              <a:ext cx="585698" cy="966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DD7C5F53-52BA-3882-8241-F680A6F0FA18}"/>
                </a:ext>
              </a:extLst>
            </p:cNvPr>
            <p:cNvCxnSpPr>
              <a:cxnSpLocks/>
            </p:cNvCxnSpPr>
            <p:nvPr/>
          </p:nvCxnSpPr>
          <p:spPr>
            <a:xfrm flipV="1">
              <a:off x="6867253" y="3572037"/>
              <a:ext cx="0" cy="209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B76B79BB-F05A-B749-7D88-6FBB73BE0CB2}"/>
                </a:ext>
              </a:extLst>
            </p:cNvPr>
            <p:cNvCxnSpPr>
              <a:cxnSpLocks/>
            </p:cNvCxnSpPr>
            <p:nvPr/>
          </p:nvCxnSpPr>
          <p:spPr>
            <a:xfrm flipH="1" flipV="1">
              <a:off x="7702145" y="3521745"/>
              <a:ext cx="305240" cy="9053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0" name="Graphic 49" descr="Internet with solid fill">
              <a:extLst>
                <a:ext uri="{FF2B5EF4-FFF2-40B4-BE49-F238E27FC236}">
                  <a16:creationId xmlns:a16="http://schemas.microsoft.com/office/drawing/2014/main" id="{E9CA9F1B-6C81-1EB0-8EEE-5B60F182D17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41905" y="1581957"/>
              <a:ext cx="914400" cy="914400"/>
            </a:xfrm>
            <a:prstGeom prst="rect">
              <a:avLst/>
            </a:prstGeom>
          </p:spPr>
        </p:pic>
        <p:pic>
          <p:nvPicPr>
            <p:cNvPr id="51" name="Graphic 50" descr="Database with solid fill">
              <a:extLst>
                <a:ext uri="{FF2B5EF4-FFF2-40B4-BE49-F238E27FC236}">
                  <a16:creationId xmlns:a16="http://schemas.microsoft.com/office/drawing/2014/main" id="{8928205B-9FC0-32BE-1ABB-9BFE5EE01A4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089172" y="1708855"/>
              <a:ext cx="914400" cy="838098"/>
            </a:xfrm>
            <a:prstGeom prst="rect">
              <a:avLst/>
            </a:prstGeom>
          </p:spPr>
        </p:pic>
        <p:sp>
          <p:nvSpPr>
            <p:cNvPr id="52" name="Arrow: Right 51">
              <a:extLst>
                <a:ext uri="{FF2B5EF4-FFF2-40B4-BE49-F238E27FC236}">
                  <a16:creationId xmlns:a16="http://schemas.microsoft.com/office/drawing/2014/main" id="{86FEE315-91D1-412D-9740-772E9A3E0632}"/>
                </a:ext>
              </a:extLst>
            </p:cNvPr>
            <p:cNvSpPr/>
            <p:nvPr/>
          </p:nvSpPr>
          <p:spPr>
            <a:xfrm>
              <a:off x="7432511" y="2028083"/>
              <a:ext cx="445839" cy="236286"/>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CEAD331-8DC3-60E8-F6F2-0C46F35C1087}"/>
                </a:ext>
              </a:extLst>
            </p:cNvPr>
            <p:cNvSpPr>
              <a:spLocks/>
            </p:cNvSpPr>
            <p:nvPr/>
          </p:nvSpPr>
          <p:spPr>
            <a:xfrm>
              <a:off x="4849809" y="1994004"/>
              <a:ext cx="1487501" cy="338899"/>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latin typeface="Times New Roman" panose="02020603050405020304" pitchFamily="18" charset="0"/>
                  <a:cs typeface="Times New Roman" panose="02020603050405020304" pitchFamily="18" charset="0"/>
                </a:rPr>
                <a:t>Human data acquisition</a:t>
              </a:r>
            </a:p>
          </p:txBody>
        </p:sp>
        <p:sp>
          <p:nvSpPr>
            <p:cNvPr id="54" name="Arrow: Right 53">
              <a:extLst>
                <a:ext uri="{FF2B5EF4-FFF2-40B4-BE49-F238E27FC236}">
                  <a16:creationId xmlns:a16="http://schemas.microsoft.com/office/drawing/2014/main" id="{04387949-996F-C4BE-F824-B6882A2EDD74}"/>
                </a:ext>
              </a:extLst>
            </p:cNvPr>
            <p:cNvSpPr/>
            <p:nvPr/>
          </p:nvSpPr>
          <p:spPr>
            <a:xfrm>
              <a:off x="8974518" y="2059343"/>
              <a:ext cx="445839" cy="236286"/>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5" name="Group 54">
              <a:extLst>
                <a:ext uri="{FF2B5EF4-FFF2-40B4-BE49-F238E27FC236}">
                  <a16:creationId xmlns:a16="http://schemas.microsoft.com/office/drawing/2014/main" id="{BB276D0B-F304-4744-48AA-A3E74DF90578}"/>
                </a:ext>
              </a:extLst>
            </p:cNvPr>
            <p:cNvGrpSpPr/>
            <p:nvPr/>
          </p:nvGrpSpPr>
          <p:grpSpPr>
            <a:xfrm>
              <a:off x="9675748" y="1778318"/>
              <a:ext cx="2980971" cy="914401"/>
              <a:chOff x="9906336" y="2833197"/>
              <a:chExt cx="2969884" cy="696437"/>
            </a:xfrm>
            <a:solidFill>
              <a:schemeClr val="accent1">
                <a:lumMod val="20000"/>
                <a:lumOff val="80000"/>
              </a:schemeClr>
            </a:solidFill>
          </p:grpSpPr>
          <p:sp>
            <p:nvSpPr>
              <p:cNvPr id="56" name="Rectangle: Rounded Corners 55">
                <a:extLst>
                  <a:ext uri="{FF2B5EF4-FFF2-40B4-BE49-F238E27FC236}">
                    <a16:creationId xmlns:a16="http://schemas.microsoft.com/office/drawing/2014/main" id="{8C47AF90-0361-747D-6987-66CFAE2BD71B}"/>
                  </a:ext>
                </a:extLst>
              </p:cNvPr>
              <p:cNvSpPr/>
              <p:nvPr/>
            </p:nvSpPr>
            <p:spPr>
              <a:xfrm>
                <a:off x="9906336" y="2833197"/>
                <a:ext cx="2276298" cy="696437"/>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66506693-24A8-929C-47E2-50FF04D2E9AE}"/>
                  </a:ext>
                </a:extLst>
              </p:cNvPr>
              <p:cNvSpPr txBox="1"/>
              <p:nvPr/>
            </p:nvSpPr>
            <p:spPr>
              <a:xfrm>
                <a:off x="9914460" y="2949271"/>
                <a:ext cx="2961760" cy="496171"/>
              </a:xfrm>
              <a:prstGeom prst="rect">
                <a:avLst/>
              </a:prstGeom>
              <a:noFill/>
            </p:spPr>
            <p:txBody>
              <a:bodyPr wrap="square" rtlCol="0">
                <a:spAutoFit/>
              </a:bodyPr>
              <a:lstStyle/>
              <a:p>
                <a:r>
                  <a:rPr lang="en-US" dirty="0"/>
                  <a:t>Predicted Social</a:t>
                </a:r>
              </a:p>
              <a:p>
                <a:r>
                  <a:rPr lang="en-US" dirty="0"/>
                  <a:t>      Interaction</a:t>
                </a:r>
              </a:p>
            </p:txBody>
          </p:sp>
        </p:grpSp>
      </p:grpSp>
      <mc:AlternateContent xmlns:mc="http://schemas.openxmlformats.org/markup-compatibility/2006" xmlns:a14="http://schemas.microsoft.com/office/drawing/2010/main">
        <mc:Choice Requires="a14">
          <p:sp>
            <p:nvSpPr>
              <p:cNvPr id="7" name="Rectangle 9">
                <a:extLst>
                  <a:ext uri="{FF2B5EF4-FFF2-40B4-BE49-F238E27FC236}">
                    <a16:creationId xmlns:a16="http://schemas.microsoft.com/office/drawing/2014/main" id="{E7D465DD-A4DF-501A-B840-5B029033FE38}"/>
                  </a:ext>
                </a:extLst>
              </p:cNvPr>
              <p:cNvSpPr>
                <a:spLocks noGrp="1" noChangeArrowheads="1"/>
              </p:cNvSpPr>
              <p:nvPr>
                <p:ph idx="1"/>
              </p:nvPr>
            </p:nvSpPr>
            <p:spPr bwMode="auto">
              <a:xfrm>
                <a:off x="561048" y="1253331"/>
                <a:ext cx="4829175" cy="435133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mmWave radar continuously transmits singles (FMCW) called chirp</a:t>
                </a: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Calculate Range from the delay </a:t>
                </a:r>
                <a14:m>
                  <m:oMath xmlns:m="http://schemas.openxmlformats.org/officeDocument/2006/math">
                    <m:r>
                      <a:rPr lang="en-US" sz="1600" i="1">
                        <a:latin typeface="Cambria Math" panose="02040503050406030204" pitchFamily="18" charset="0"/>
                      </a:rPr>
                      <m:t>𝜏</m:t>
                    </m:r>
                  </m:oMath>
                </a14:m>
                <a:r>
                  <a:rPr lang="en-US" sz="1600" dirty="0">
                    <a:latin typeface="Times New Roman" panose="02020603050405020304" pitchFamily="18" charset="0"/>
                    <a:cs typeface="Times New Roman" panose="02020603050405020304" pitchFamily="18" charset="0"/>
                  </a:rPr>
                  <a:t> by doing FFT</a:t>
                </a: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Implementing 2D FFT, get Doppler or Velocity information</a:t>
                </a: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Computed </a:t>
                </a:r>
                <a:r>
                  <a:rPr lang="en-US" sz="1600" dirty="0" err="1">
                    <a:latin typeface="Times New Roman" panose="02020603050405020304" pitchFamily="18" charset="0"/>
                    <a:cs typeface="Times New Roman" panose="02020603050405020304" pitchFamily="18" charset="0"/>
                  </a:rPr>
                  <a:t>AoA</a:t>
                </a:r>
                <a:r>
                  <a:rPr lang="en-US" sz="1600" dirty="0">
                    <a:latin typeface="Times New Roman" panose="02020603050405020304" pitchFamily="18" charset="0"/>
                    <a:cs typeface="Times New Roman" panose="02020603050405020304" pitchFamily="18" charset="0"/>
                  </a:rPr>
                  <a:t> by Phase difference of RX antennas and Maximum </a:t>
                </a:r>
                <a:r>
                  <a:rPr lang="en-US" sz="1600" dirty="0" err="1">
                    <a:latin typeface="Times New Roman" panose="02020603050405020304" pitchFamily="18" charset="0"/>
                    <a:cs typeface="Times New Roman" panose="02020603050405020304" pitchFamily="18" charset="0"/>
                  </a:rPr>
                  <a:t>AoA</a:t>
                </a:r>
                <a:r>
                  <a:rPr lang="en-US" sz="1600" dirty="0">
                    <a:latin typeface="Times New Roman" panose="02020603050405020304" pitchFamily="18" charset="0"/>
                    <a:cs typeface="Times New Roman" panose="02020603050405020304" pitchFamily="18" charset="0"/>
                  </a:rPr>
                  <a:t>  or Sensor </a:t>
                </a:r>
                <a:r>
                  <a:rPr lang="en-US" sz="1600" dirty="0" err="1">
                    <a:latin typeface="Times New Roman" panose="02020603050405020304" pitchFamily="18" charset="0"/>
                    <a:cs typeface="Times New Roman" panose="02020603050405020304" pitchFamily="18" charset="0"/>
                  </a:rPr>
                  <a:t>FoV</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Eventually Range, Doppler, and </a:t>
                </a:r>
                <a:r>
                  <a:rPr lang="en-US" sz="1600" dirty="0" err="1">
                    <a:latin typeface="Times New Roman" panose="02020603050405020304" pitchFamily="18" charset="0"/>
                    <a:cs typeface="Times New Roman" panose="02020603050405020304" pitchFamily="18" charset="0"/>
                  </a:rPr>
                  <a:t>AoA</a:t>
                </a:r>
                <a:r>
                  <a:rPr lang="en-US" sz="1600" dirty="0">
                    <a:latin typeface="Times New Roman" panose="02020603050405020304" pitchFamily="18" charset="0"/>
                    <a:cs typeface="Times New Roman" panose="02020603050405020304" pitchFamily="18" charset="0"/>
                  </a:rPr>
                  <a:t> provides get object’s </a:t>
                </a:r>
                <a:r>
                  <a:rPr lang="en-US" sz="1600" dirty="0" err="1">
                    <a:latin typeface="Times New Roman" panose="02020603050405020304" pitchFamily="18" charset="0"/>
                    <a:cs typeface="Times New Roman" panose="02020603050405020304" pitchFamily="18" charset="0"/>
                  </a:rPr>
                  <a:t>spational</a:t>
                </a:r>
                <a:r>
                  <a:rPr lang="en-US" sz="1600" dirty="0">
                    <a:latin typeface="Times New Roman" panose="02020603050405020304" pitchFamily="18" charset="0"/>
                    <a:cs typeface="Times New Roman" panose="02020603050405020304" pitchFamily="18" charset="0"/>
                  </a:rPr>
                  <a:t> information, doppler and SNR</a:t>
                </a:r>
              </a:p>
              <a:p>
                <a:pPr algn="just">
                  <a:buFont typeface="Wingdings" panose="05000000000000000000" pitchFamily="2" charset="2"/>
                  <a:buChar char="§"/>
                </a:pPr>
                <a:endParaRPr lang="en-US" sz="1600" b="0" i="0" dirty="0">
                  <a:effectLst/>
                  <a:latin typeface="Times New Roman" panose="02020603050405020304" pitchFamily="18" charset="0"/>
                  <a:cs typeface="Times New Roman" panose="02020603050405020304" pitchFamily="18" charset="0"/>
                </a:endParaRPr>
              </a:p>
            </p:txBody>
          </p:sp>
        </mc:Choice>
        <mc:Fallback xmlns="">
          <p:sp>
            <p:nvSpPr>
              <p:cNvPr id="7" name="Rectangle 9">
                <a:extLst>
                  <a:ext uri="{FF2B5EF4-FFF2-40B4-BE49-F238E27FC236}">
                    <a16:creationId xmlns:a16="http://schemas.microsoft.com/office/drawing/2014/main" id="{E7D465DD-A4DF-501A-B840-5B029033FE38}"/>
                  </a:ext>
                </a:extLst>
              </p:cNvPr>
              <p:cNvSpPr>
                <a:spLocks noGrp="1" noRot="1" noChangeAspect="1" noMove="1" noResize="1" noEditPoints="1" noAdjustHandles="1" noChangeArrowheads="1" noChangeShapeType="1" noTextEdit="1"/>
              </p:cNvSpPr>
              <p:nvPr>
                <p:ph idx="1"/>
              </p:nvPr>
            </p:nvSpPr>
            <p:spPr bwMode="auto">
              <a:xfrm>
                <a:off x="561048" y="1253331"/>
                <a:ext cx="4829175" cy="4351338"/>
              </a:xfrm>
              <a:prstGeom prst="rect">
                <a:avLst/>
              </a:prstGeom>
              <a:blipFill>
                <a:blip r:embed="rId16"/>
                <a:stretch>
                  <a:fillRect l="-505" r="-7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88601511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2489-3000-B4B2-2972-12697EE1A3A0}"/>
              </a:ext>
            </a:extLst>
          </p:cNvPr>
          <p:cNvSpPr>
            <a:spLocks noGrp="1"/>
          </p:cNvSpPr>
          <p:nvPr>
            <p:ph type="title" idx="4294967295"/>
          </p:nvPr>
        </p:nvSpPr>
        <p:spPr>
          <a:xfrm>
            <a:off x="369437" y="195791"/>
            <a:ext cx="10515600" cy="518193"/>
          </a:xfrm>
          <a:prstGeom prst="rect">
            <a:avLst/>
          </a:prstGeom>
        </p:spPr>
        <p:txBody>
          <a:bodyPr/>
          <a:lstStyle/>
          <a:p>
            <a:r>
              <a:rPr lang="en-US" sz="42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700160B-1F32-5034-FEE6-670E64475C09}"/>
              </a:ext>
            </a:extLst>
          </p:cNvPr>
          <p:cNvSpPr>
            <a:spLocks noGrp="1"/>
          </p:cNvSpPr>
          <p:nvPr>
            <p:ph idx="1"/>
          </p:nvPr>
        </p:nvSpPr>
        <p:spPr>
          <a:xfrm>
            <a:off x="670932" y="1521354"/>
            <a:ext cx="10625253" cy="4809998"/>
          </a:xfrm>
        </p:spPr>
        <p:txBody>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Current Systems:</a:t>
            </a:r>
            <a:endParaRPr lang="en-US" sz="1800" dirty="0">
              <a:latin typeface="Times New Roman" panose="02020603050405020304" pitchFamily="18" charset="0"/>
              <a:cs typeface="Times New Roman" panose="02020603050405020304" pitchFamily="18" charset="0"/>
            </a:endParaRPr>
          </a:p>
          <a:p>
            <a:pPr lvl="1" algn="just">
              <a:lnSpc>
                <a:spcPct val="150000"/>
              </a:lnSpc>
            </a:pPr>
            <a:r>
              <a:rPr lang="en-US" sz="1800" dirty="0">
                <a:latin typeface="Times New Roman" panose="02020603050405020304" pitchFamily="18" charset="0"/>
                <a:cs typeface="Times New Roman" panose="02020603050405020304" pitchFamily="18" charset="0"/>
              </a:rPr>
              <a:t>Single person activity</a:t>
            </a:r>
          </a:p>
          <a:p>
            <a:pPr lvl="1" algn="just">
              <a:lnSpc>
                <a:spcPct val="150000"/>
              </a:lnSpc>
            </a:pPr>
            <a:r>
              <a:rPr lang="en-US" sz="1800" dirty="0">
                <a:latin typeface="Times New Roman" panose="02020603050405020304" pitchFamily="18" charset="0"/>
                <a:cs typeface="Times New Roman" panose="02020603050405020304" pitchFamily="18" charset="0"/>
              </a:rPr>
              <a:t>Used vision-based sensors</a:t>
            </a:r>
          </a:p>
          <a:p>
            <a:pPr lvl="1" algn="just">
              <a:lnSpc>
                <a:spcPct val="150000"/>
              </a:lnSpc>
            </a:pPr>
            <a:r>
              <a:rPr lang="en-US" sz="1800" dirty="0">
                <a:latin typeface="Times New Roman" panose="02020603050405020304" pitchFamily="18" charset="0"/>
                <a:cs typeface="Times New Roman" panose="02020603050405020304" pitchFamily="18" charset="0"/>
              </a:rPr>
              <a:t>User discomfort, lack of privacy</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Research Gap:</a:t>
            </a:r>
          </a:p>
          <a:p>
            <a:pPr lvl="1" algn="just">
              <a:lnSpc>
                <a:spcPct val="150000"/>
              </a:lnSpc>
            </a:pPr>
            <a:r>
              <a:rPr lang="en-US" sz="1800" dirty="0">
                <a:latin typeface="Times New Roman" panose="02020603050405020304" pitchFamily="18" charset="0"/>
                <a:cs typeface="Times New Roman" panose="02020603050405020304" pitchFamily="18" charset="0"/>
              </a:rPr>
              <a:t>No robust system using </a:t>
            </a:r>
            <a:r>
              <a:rPr lang="en-US" sz="1800" dirty="0" err="1">
                <a:latin typeface="Times New Roman" panose="02020603050405020304" pitchFamily="18" charset="0"/>
                <a:cs typeface="Times New Roman" panose="02020603050405020304" pitchFamily="18" charset="0"/>
              </a:rPr>
              <a:t>mmwave</a:t>
            </a:r>
            <a:r>
              <a:rPr lang="en-US" sz="1800" dirty="0">
                <a:latin typeface="Times New Roman" panose="02020603050405020304" pitchFamily="18" charset="0"/>
                <a:cs typeface="Times New Roman" panose="02020603050405020304" pitchFamily="18" charset="0"/>
              </a:rPr>
              <a:t> radar to predict multi-person social </a:t>
            </a:r>
            <a:r>
              <a:rPr lang="en-US" sz="1800" dirty="0" err="1">
                <a:latin typeface="Times New Roman" panose="02020603050405020304" pitchFamily="18" charset="0"/>
                <a:cs typeface="Times New Roman" panose="02020603050405020304" pitchFamily="18" charset="0"/>
              </a:rPr>
              <a:t>beahvior</a:t>
            </a:r>
            <a:endParaRPr lang="en-US" sz="1800" dirty="0"/>
          </a:p>
        </p:txBody>
      </p:sp>
      <p:sp>
        <p:nvSpPr>
          <p:cNvPr id="5" name="Slide Number Placeholder 4">
            <a:extLst>
              <a:ext uri="{FF2B5EF4-FFF2-40B4-BE49-F238E27FC236}">
                <a16:creationId xmlns:a16="http://schemas.microsoft.com/office/drawing/2014/main" id="{4204189C-0F15-2E99-6C38-91A237D3FA0A}"/>
              </a:ext>
            </a:extLst>
          </p:cNvPr>
          <p:cNvSpPr>
            <a:spLocks noGrp="1"/>
          </p:cNvSpPr>
          <p:nvPr>
            <p:ph type="sldNum" sz="quarter" idx="12"/>
          </p:nvPr>
        </p:nvSpPr>
        <p:spPr/>
        <p:txBody>
          <a:bodyPr/>
          <a:lstStyle/>
          <a:p>
            <a:fld id="{C45F31B8-6562-4A36-A35A-9CD554BAFD2A}" type="slidenum">
              <a:rPr lang="en-US" smtClean="0"/>
              <a:t>7</a:t>
            </a:fld>
            <a:endParaRPr lang="en-US"/>
          </a:p>
        </p:txBody>
      </p:sp>
    </p:spTree>
    <p:extLst>
      <p:ext uri="{BB962C8B-B14F-4D97-AF65-F5344CB8AC3E}">
        <p14:creationId xmlns:p14="http://schemas.microsoft.com/office/powerpoint/2010/main" val="315065483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156E0-37AE-398A-4807-E994F2A6BDEF}"/>
              </a:ext>
            </a:extLst>
          </p:cNvPr>
          <p:cNvSpPr>
            <a:spLocks noGrp="1"/>
          </p:cNvSpPr>
          <p:nvPr>
            <p:ph type="title" idx="4294967295"/>
          </p:nvPr>
        </p:nvSpPr>
        <p:spPr>
          <a:xfrm>
            <a:off x="362494" y="214198"/>
            <a:ext cx="10515600" cy="1325563"/>
          </a:xfrm>
          <a:prstGeom prst="rect">
            <a:avLst/>
          </a:prstGeom>
        </p:spPr>
        <p:txBody>
          <a:bodyPr/>
          <a:lstStyle/>
          <a:p>
            <a:r>
              <a:rPr lang="en-US" dirty="0">
                <a:latin typeface="Times New Roman" panose="02020603050405020304" pitchFamily="18" charset="0"/>
                <a:cs typeface="Times New Roman" panose="02020603050405020304" pitchFamily="18" charset="0"/>
              </a:rPr>
              <a:t>Literature Review</a:t>
            </a:r>
            <a:endParaRPr lang="en-US" dirty="0"/>
          </a:p>
        </p:txBody>
      </p:sp>
      <p:graphicFrame>
        <p:nvGraphicFramePr>
          <p:cNvPr id="4" name="Content Placeholder 3">
            <a:extLst>
              <a:ext uri="{FF2B5EF4-FFF2-40B4-BE49-F238E27FC236}">
                <a16:creationId xmlns:a16="http://schemas.microsoft.com/office/drawing/2014/main" id="{0299F010-D204-FA58-D2D4-CB80016FE726}"/>
              </a:ext>
            </a:extLst>
          </p:cNvPr>
          <p:cNvGraphicFramePr>
            <a:graphicFrameLocks noGrp="1"/>
          </p:cNvGraphicFramePr>
          <p:nvPr>
            <p:ph idx="1"/>
            <p:extLst>
              <p:ext uri="{D42A27DB-BD31-4B8C-83A1-F6EECF244321}">
                <p14:modId xmlns:p14="http://schemas.microsoft.com/office/powerpoint/2010/main" val="3821811825"/>
              </p:ext>
            </p:extLst>
          </p:nvPr>
        </p:nvGraphicFramePr>
        <p:xfrm>
          <a:off x="1313906" y="1295368"/>
          <a:ext cx="10226039" cy="4616917"/>
        </p:xfrm>
        <a:graphic>
          <a:graphicData uri="http://schemas.openxmlformats.org/drawingml/2006/table">
            <a:tbl>
              <a:tblPr firstRow="1" bandRow="1">
                <a:tableStyleId>{5C22544A-7EE6-4342-B048-85BDC9FD1C3A}</a:tableStyleId>
              </a:tblPr>
              <a:tblGrid>
                <a:gridCol w="1719834">
                  <a:extLst>
                    <a:ext uri="{9D8B030D-6E8A-4147-A177-3AD203B41FA5}">
                      <a16:colId xmlns:a16="http://schemas.microsoft.com/office/drawing/2014/main" val="2909660655"/>
                    </a:ext>
                  </a:extLst>
                </a:gridCol>
                <a:gridCol w="4725670">
                  <a:extLst>
                    <a:ext uri="{9D8B030D-6E8A-4147-A177-3AD203B41FA5}">
                      <a16:colId xmlns:a16="http://schemas.microsoft.com/office/drawing/2014/main" val="1644030703"/>
                    </a:ext>
                  </a:extLst>
                </a:gridCol>
                <a:gridCol w="1224025">
                  <a:extLst>
                    <a:ext uri="{9D8B030D-6E8A-4147-A177-3AD203B41FA5}">
                      <a16:colId xmlns:a16="http://schemas.microsoft.com/office/drawing/2014/main" val="2389892287"/>
                    </a:ext>
                  </a:extLst>
                </a:gridCol>
                <a:gridCol w="2556510">
                  <a:extLst>
                    <a:ext uri="{9D8B030D-6E8A-4147-A177-3AD203B41FA5}">
                      <a16:colId xmlns:a16="http://schemas.microsoft.com/office/drawing/2014/main" val="1737601814"/>
                    </a:ext>
                  </a:extLst>
                </a:gridCol>
              </a:tblGrid>
              <a:tr h="463559">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Study</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Methodology</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Findings</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Comments</a:t>
                      </a:r>
                    </a:p>
                  </a:txBody>
                  <a:tcPr anchor="ctr"/>
                </a:tc>
                <a:extLst>
                  <a:ext uri="{0D108BD9-81ED-4DB2-BD59-A6C34878D82A}">
                    <a16:rowId xmlns:a16="http://schemas.microsoft.com/office/drawing/2014/main" val="474458659"/>
                  </a:ext>
                </a:extLst>
              </a:tr>
              <a:tr h="1473772">
                <a:tc>
                  <a:txBody>
                    <a:bodyPr/>
                    <a:lstStyle/>
                    <a:p>
                      <a:pPr algn="ctr" rtl="0"/>
                      <a:r>
                        <a:rPr lang="da-DK" sz="12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Abdullah et al.</a:t>
                      </a:r>
                      <a:endParaRPr lang="da-DK" sz="1200" b="0" dirty="0">
                        <a:effectLst/>
                        <a:latin typeface="Times New Roman" panose="02020603050405020304" pitchFamily="18" charset="0"/>
                        <a:cs typeface="Times New Roman" panose="02020603050405020304" pitchFamily="18" charset="0"/>
                      </a:endParaRPr>
                    </a:p>
                    <a:p>
                      <a:pPr algn="ctr" rtl="0"/>
                      <a:r>
                        <a:rPr lang="da-DK" sz="12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2024 [1]</a:t>
                      </a:r>
                      <a:endParaRPr lang="da-DK" sz="1200" b="0" dirty="0">
                        <a:effectLst/>
                        <a:latin typeface="Times New Roman" panose="02020603050405020304" pitchFamily="18" charset="0"/>
                        <a:cs typeface="Times New Roman" panose="02020603050405020304" pitchFamily="18" charset="0"/>
                      </a:endParaRPr>
                    </a:p>
                    <a:p>
                      <a:pPr algn="ctr"/>
                      <a:br>
                        <a:rPr lang="da-DK" sz="1200" dirty="0">
                          <a:latin typeface="Times New Roman" panose="02020603050405020304" pitchFamily="18" charset="0"/>
                          <a:cs typeface="Times New Roman" panose="02020603050405020304" pitchFamily="18" charset="0"/>
                        </a:rPr>
                      </a:br>
                      <a:endParaRPr lang="en-US"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200" dirty="0">
                          <a:latin typeface="Times New Roman" panose="02020603050405020304" pitchFamily="18" charset="0"/>
                          <a:cs typeface="Times New Roman" panose="02020603050405020304" pitchFamily="18" charset="0"/>
                        </a:rPr>
                        <a:t>They used </a:t>
                      </a:r>
                      <a:r>
                        <a:rPr lang="en-US" sz="1200" b="1" dirty="0">
                          <a:latin typeface="Times New Roman" panose="02020603050405020304" pitchFamily="18" charset="0"/>
                          <a:cs typeface="Times New Roman" panose="02020603050405020304" pitchFamily="18" charset="0"/>
                        </a:rPr>
                        <a:t>IWR6843ISK-ODS</a:t>
                      </a:r>
                      <a:r>
                        <a:rPr lang="en-US" sz="1200" dirty="0">
                          <a:latin typeface="Times New Roman" panose="02020603050405020304" pitchFamily="18" charset="0"/>
                          <a:cs typeface="Times New Roman" panose="02020603050405020304" pitchFamily="18" charset="0"/>
                        </a:rPr>
                        <a:t> connected to an NVIDIA Jetson Nano and </a:t>
                      </a:r>
                    </a:p>
                    <a:p>
                      <a:r>
                        <a:rPr lang="en-US" sz="1200" dirty="0">
                          <a:latin typeface="Times New Roman" panose="02020603050405020304" pitchFamily="18" charset="0"/>
                          <a:cs typeface="Times New Roman" panose="02020603050405020304" pitchFamily="18" charset="0"/>
                        </a:rPr>
                        <a:t>Collected individual human subject’s positional (x, y, z), doppler and acceleration data. </a:t>
                      </a:r>
                      <a:r>
                        <a:rPr lang="en-US" sz="1200" b="1" dirty="0" err="1">
                          <a:latin typeface="Times New Roman" panose="02020603050405020304" pitchFamily="18" charset="0"/>
                          <a:cs typeface="Times New Roman" panose="02020603050405020304" pitchFamily="18" charset="0"/>
                        </a:rPr>
                        <a:t>PointNet</a:t>
                      </a:r>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model was used in recognizing </a:t>
                      </a:r>
                      <a:r>
                        <a:rPr lang="en-US" sz="1200" b="1" dirty="0">
                          <a:latin typeface="Times New Roman" panose="02020603050405020304" pitchFamily="18" charset="0"/>
                          <a:cs typeface="Times New Roman" panose="02020603050405020304" pitchFamily="18" charset="0"/>
                        </a:rPr>
                        <a:t>five types </a:t>
                      </a:r>
                      <a:r>
                        <a:rPr lang="en-US" sz="1200" dirty="0">
                          <a:latin typeface="Times New Roman" panose="02020603050405020304" pitchFamily="18" charset="0"/>
                          <a:cs typeface="Times New Roman" panose="02020603050405020304" pitchFamily="18" charset="0"/>
                        </a:rPr>
                        <a:t>of activities: standing, walking, sitting, lying, and falling</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They achieved very good accuracy of 99.5%</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Their data isn’t robust to real time scenario as they used radar data after group tracking algorithm.</a:t>
                      </a:r>
                    </a:p>
                    <a:p>
                      <a:pPr algn="ctr"/>
                      <a:endParaRPr lang="en-US" sz="1200" dirty="0">
                        <a:solidFill>
                          <a:schemeClr val="tx1"/>
                        </a:solidFill>
                        <a:latin typeface="Times New Roman" panose="02020603050405020304" pitchFamily="18" charset="0"/>
                        <a:cs typeface="Times New Roman" panose="02020603050405020304" pitchFamily="18" charset="0"/>
                      </a:endParaRPr>
                    </a:p>
                    <a:p>
                      <a:pPr algn="ctr"/>
                      <a:r>
                        <a:rPr lang="en-US" sz="1200" dirty="0">
                          <a:solidFill>
                            <a:schemeClr val="tx1"/>
                          </a:solidFill>
                          <a:latin typeface="Times New Roman" panose="02020603050405020304" pitchFamily="18" charset="0"/>
                          <a:cs typeface="Times New Roman" panose="02020603050405020304" pitchFamily="18" charset="0"/>
                        </a:rPr>
                        <a:t>Only recognize single person’s activity</a:t>
                      </a:r>
                    </a:p>
                  </a:txBody>
                  <a:tcPr anchor="ctr"/>
                </a:tc>
                <a:extLst>
                  <a:ext uri="{0D108BD9-81ED-4DB2-BD59-A6C34878D82A}">
                    <a16:rowId xmlns:a16="http://schemas.microsoft.com/office/drawing/2014/main" val="1102880486"/>
                  </a:ext>
                </a:extLst>
              </a:tr>
              <a:tr h="2679586">
                <a:tc>
                  <a:txBody>
                    <a:bodyPr/>
                    <a:lstStyle/>
                    <a:p>
                      <a:pPr algn="ctr"/>
                      <a:r>
                        <a:rPr lang="en-US" sz="1200" dirty="0">
                          <a:latin typeface="Times New Roman" panose="02020603050405020304" pitchFamily="18" charset="0"/>
                          <a:cs typeface="Times New Roman" panose="02020603050405020304" pitchFamily="18" charset="0"/>
                        </a:rPr>
                        <a:t>Z. Li et al. 2023 [2]</a:t>
                      </a:r>
                      <a:endParaRPr lang="en-US"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Used </a:t>
                      </a:r>
                      <a:r>
                        <a:rPr lang="en-US" sz="1200" b="1" dirty="0">
                          <a:latin typeface="Times New Roman" panose="02020603050405020304" pitchFamily="18" charset="0"/>
                          <a:cs typeface="Times New Roman" panose="02020603050405020304" pitchFamily="18" charset="0"/>
                        </a:rPr>
                        <a:t>micro-Doppler signatures </a:t>
                      </a:r>
                      <a:r>
                        <a:rPr lang="en-US" sz="1200" dirty="0">
                          <a:latin typeface="Times New Roman" panose="02020603050405020304" pitchFamily="18" charset="0"/>
                          <a:cs typeface="Times New Roman" panose="02020603050405020304" pitchFamily="18" charset="0"/>
                        </a:rPr>
                        <a:t>with an adaptive magnitude thresholding method to highlight Region of Interest (</a:t>
                      </a:r>
                      <a:r>
                        <a:rPr lang="en-US" sz="1200" dirty="0" err="1">
                          <a:latin typeface="Times New Roman" panose="02020603050405020304" pitchFamily="18" charset="0"/>
                          <a:cs typeface="Times New Roman" panose="02020603050405020304" pitchFamily="18" charset="0"/>
                        </a:rPr>
                        <a:t>RoI</a:t>
                      </a:r>
                      <a:r>
                        <a:rPr lang="en-US" sz="1200" dirty="0">
                          <a:latin typeface="Times New Roman" panose="02020603050405020304" pitchFamily="18" charset="0"/>
                          <a:cs typeface="Times New Roman" panose="02020603050405020304" pitchFamily="18" charset="0"/>
                        </a:rPr>
                        <a:t>). </a:t>
                      </a:r>
                    </a:p>
                    <a:p>
                      <a:pPr algn="ct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Tested on </a:t>
                      </a:r>
                      <a:r>
                        <a:rPr lang="en-US" sz="1200" b="1" dirty="0">
                          <a:latin typeface="Times New Roman" panose="02020603050405020304" pitchFamily="18" charset="0"/>
                          <a:cs typeface="Times New Roman" panose="02020603050405020304" pitchFamily="18" charset="0"/>
                        </a:rPr>
                        <a:t>six different </a:t>
                      </a:r>
                      <a:r>
                        <a:rPr lang="en-US" sz="1200" dirty="0">
                          <a:latin typeface="Times New Roman" panose="02020603050405020304" pitchFamily="18" charset="0"/>
                          <a:cs typeface="Times New Roman" panose="02020603050405020304" pitchFamily="18" charset="0"/>
                        </a:rPr>
                        <a:t>human activities. Compared to state-of-the-art deep learning methods, measured improvement in computation time &amp; inference cost</a:t>
                      </a:r>
                      <a:endParaRPr lang="en-US"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Achieved about </a:t>
                      </a:r>
                      <a:r>
                        <a:rPr lang="en-US" sz="1200" b="1" dirty="0">
                          <a:latin typeface="Times New Roman" panose="02020603050405020304" pitchFamily="18" charset="0"/>
                          <a:cs typeface="Times New Roman" panose="02020603050405020304" pitchFamily="18" charset="0"/>
                        </a:rPr>
                        <a:t>93.1% accuracy</a:t>
                      </a:r>
                      <a:r>
                        <a:rPr lang="en-US" sz="1200" dirty="0">
                          <a:latin typeface="Times New Roman" panose="02020603050405020304" pitchFamily="18" charset="0"/>
                          <a:cs typeface="Times New Roman" panose="02020603050405020304" pitchFamily="18" charset="0"/>
                        </a:rPr>
                        <a:t>.</a:t>
                      </a:r>
                    </a:p>
                    <a:p>
                      <a:pPr algn="ct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 Reduced training time, memory footprint, and inference cost</a:t>
                      </a:r>
                      <a:endParaRPr lang="en-US"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Focused on </a:t>
                      </a:r>
                      <a:r>
                        <a:rPr lang="en-US" sz="1200" b="1" dirty="0">
                          <a:latin typeface="Times New Roman" panose="02020603050405020304" pitchFamily="18" charset="0"/>
                          <a:cs typeface="Times New Roman" panose="02020603050405020304" pitchFamily="18" charset="0"/>
                        </a:rPr>
                        <a:t>efficiency</a:t>
                      </a:r>
                      <a:r>
                        <a:rPr lang="en-US" sz="1200" dirty="0">
                          <a:latin typeface="Times New Roman" panose="02020603050405020304" pitchFamily="18" charset="0"/>
                          <a:cs typeface="Times New Roman" panose="02020603050405020304" pitchFamily="18" charset="0"/>
                        </a:rPr>
                        <a:t> and individual motion types. Not explicitly about social/group behavior</a:t>
                      </a:r>
                      <a:endParaRPr lang="en-US" sz="12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22021297"/>
                  </a:ext>
                </a:extLst>
              </a:tr>
            </a:tbl>
          </a:graphicData>
        </a:graphic>
      </p:graphicFrame>
      <p:sp>
        <p:nvSpPr>
          <p:cNvPr id="5" name="Slide Number Placeholder 4">
            <a:extLst>
              <a:ext uri="{FF2B5EF4-FFF2-40B4-BE49-F238E27FC236}">
                <a16:creationId xmlns:a16="http://schemas.microsoft.com/office/drawing/2014/main" id="{F87C8096-1427-86C0-7130-D9A3E22E053A}"/>
              </a:ext>
            </a:extLst>
          </p:cNvPr>
          <p:cNvSpPr>
            <a:spLocks noGrp="1"/>
          </p:cNvSpPr>
          <p:nvPr>
            <p:ph type="sldNum" sz="quarter" idx="12"/>
          </p:nvPr>
        </p:nvSpPr>
        <p:spPr/>
        <p:txBody>
          <a:bodyPr/>
          <a:lstStyle/>
          <a:p>
            <a:fld id="{C45F31B8-6562-4A36-A35A-9CD554BAFD2A}" type="slidenum">
              <a:rPr lang="en-US" smtClean="0"/>
              <a:t>8</a:t>
            </a:fld>
            <a:endParaRPr lang="en-US"/>
          </a:p>
        </p:txBody>
      </p:sp>
    </p:spTree>
    <p:extLst>
      <p:ext uri="{BB962C8B-B14F-4D97-AF65-F5344CB8AC3E}">
        <p14:creationId xmlns:p14="http://schemas.microsoft.com/office/powerpoint/2010/main" val="259431274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3DEC-BC5C-D8EB-D5B8-A76B1DD67E92}"/>
              </a:ext>
            </a:extLst>
          </p:cNvPr>
          <p:cNvSpPr>
            <a:spLocks noGrp="1"/>
          </p:cNvSpPr>
          <p:nvPr>
            <p:ph type="title" idx="4294967295"/>
          </p:nvPr>
        </p:nvSpPr>
        <p:spPr>
          <a:xfrm>
            <a:off x="366308" y="189006"/>
            <a:ext cx="10515600" cy="1325563"/>
          </a:xfrm>
          <a:prstGeom prst="rect">
            <a:avLst/>
          </a:prstGeom>
        </p:spPr>
        <p:txBody>
          <a:bodyPr/>
          <a:lstStyle/>
          <a:p>
            <a:r>
              <a:rPr lang="en-US" sz="4000" dirty="0">
                <a:latin typeface="Times New Roman" panose="02020603050405020304" pitchFamily="18" charset="0"/>
                <a:cs typeface="Times New Roman" panose="02020603050405020304" pitchFamily="18" charset="0"/>
              </a:rPr>
              <a:t>Literature Review</a:t>
            </a:r>
          </a:p>
        </p:txBody>
      </p:sp>
      <p:graphicFrame>
        <p:nvGraphicFramePr>
          <p:cNvPr id="7" name="Content Placeholder 3">
            <a:extLst>
              <a:ext uri="{FF2B5EF4-FFF2-40B4-BE49-F238E27FC236}">
                <a16:creationId xmlns:a16="http://schemas.microsoft.com/office/drawing/2014/main" id="{BFF2D6F7-D165-0316-C451-1BFFCD6A8F6B}"/>
              </a:ext>
            </a:extLst>
          </p:cNvPr>
          <p:cNvGraphicFramePr>
            <a:graphicFrameLocks/>
          </p:cNvGraphicFramePr>
          <p:nvPr>
            <p:extLst>
              <p:ext uri="{D42A27DB-BD31-4B8C-83A1-F6EECF244321}">
                <p14:modId xmlns:p14="http://schemas.microsoft.com/office/powerpoint/2010/main" val="2485246040"/>
              </p:ext>
            </p:extLst>
          </p:nvPr>
        </p:nvGraphicFramePr>
        <p:xfrm>
          <a:off x="815526" y="1335333"/>
          <a:ext cx="10581818" cy="2975410"/>
        </p:xfrm>
        <a:graphic>
          <a:graphicData uri="http://schemas.openxmlformats.org/drawingml/2006/table">
            <a:tbl>
              <a:tblPr firstRow="1" bandRow="1">
                <a:tableStyleId>{5C22544A-7EE6-4342-B048-85BDC9FD1C3A}</a:tableStyleId>
              </a:tblPr>
              <a:tblGrid>
                <a:gridCol w="1779669">
                  <a:extLst>
                    <a:ext uri="{9D8B030D-6E8A-4147-A177-3AD203B41FA5}">
                      <a16:colId xmlns:a16="http://schemas.microsoft.com/office/drawing/2014/main" val="2909660655"/>
                    </a:ext>
                  </a:extLst>
                </a:gridCol>
                <a:gridCol w="4890083">
                  <a:extLst>
                    <a:ext uri="{9D8B030D-6E8A-4147-A177-3AD203B41FA5}">
                      <a16:colId xmlns:a16="http://schemas.microsoft.com/office/drawing/2014/main" val="1644030703"/>
                    </a:ext>
                  </a:extLst>
                </a:gridCol>
                <a:gridCol w="1266611">
                  <a:extLst>
                    <a:ext uri="{9D8B030D-6E8A-4147-A177-3AD203B41FA5}">
                      <a16:colId xmlns:a16="http://schemas.microsoft.com/office/drawing/2014/main" val="2389892287"/>
                    </a:ext>
                  </a:extLst>
                </a:gridCol>
                <a:gridCol w="2645455">
                  <a:extLst>
                    <a:ext uri="{9D8B030D-6E8A-4147-A177-3AD203B41FA5}">
                      <a16:colId xmlns:a16="http://schemas.microsoft.com/office/drawing/2014/main" val="1737601814"/>
                    </a:ext>
                  </a:extLst>
                </a:gridCol>
              </a:tblGrid>
              <a:tr h="711948">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Study</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Methodology</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Findings</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Comments</a:t>
                      </a:r>
                    </a:p>
                  </a:txBody>
                  <a:tcPr anchor="ctr"/>
                </a:tc>
                <a:extLst>
                  <a:ext uri="{0D108BD9-81ED-4DB2-BD59-A6C34878D82A}">
                    <a16:rowId xmlns:a16="http://schemas.microsoft.com/office/drawing/2014/main" val="474458659"/>
                  </a:ext>
                </a:extLst>
              </a:tr>
              <a:tr h="2263462">
                <a:tc>
                  <a:txBody>
                    <a:bodyPr/>
                    <a:lstStyle/>
                    <a:p>
                      <a:pPr algn="ctr" rtl="0"/>
                      <a:r>
                        <a:rPr lang="da-DK" sz="12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F. Jin et al.</a:t>
                      </a:r>
                      <a:endParaRPr lang="da-DK" sz="1200" b="0" dirty="0">
                        <a:effectLst/>
                        <a:latin typeface="Times New Roman" panose="02020603050405020304" pitchFamily="18" charset="0"/>
                        <a:cs typeface="Times New Roman" panose="02020603050405020304" pitchFamily="18" charset="0"/>
                      </a:endParaRPr>
                    </a:p>
                    <a:p>
                      <a:pPr algn="ctr" rtl="0"/>
                      <a:r>
                        <a:rPr lang="da-DK" sz="12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2019 [3]</a:t>
                      </a:r>
                      <a:endParaRPr lang="da-DK" sz="1200" b="0" dirty="0">
                        <a:effectLst/>
                        <a:latin typeface="Times New Roman" panose="02020603050405020304" pitchFamily="18" charset="0"/>
                        <a:cs typeface="Times New Roman" panose="02020603050405020304" pitchFamily="18" charset="0"/>
                      </a:endParaRPr>
                    </a:p>
                    <a:p>
                      <a:pPr algn="ctr"/>
                      <a:br>
                        <a:rPr lang="da-DK" sz="1200" dirty="0">
                          <a:latin typeface="Times New Roman" panose="02020603050405020304" pitchFamily="18" charset="0"/>
                          <a:cs typeface="Times New Roman" panose="02020603050405020304" pitchFamily="18" charset="0"/>
                        </a:rPr>
                      </a:br>
                      <a:endParaRPr lang="en-US"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200" dirty="0"/>
                        <a:t>Used a </a:t>
                      </a:r>
                      <a:r>
                        <a:rPr lang="en-US" sz="1200" b="1" dirty="0"/>
                        <a:t>TI AWR1642BOOST </a:t>
                      </a:r>
                      <a:r>
                        <a:rPr lang="en-US" sz="1200" b="1" dirty="0" err="1"/>
                        <a:t>mmWave</a:t>
                      </a:r>
                      <a:r>
                        <a:rPr lang="en-US" sz="1200" b="1" dirty="0"/>
                        <a:t> FMCW radar</a:t>
                      </a:r>
                      <a:r>
                        <a:rPr lang="en-US" sz="1200" dirty="0"/>
                        <a:t> with point cloud and Doppler data to classify </a:t>
                      </a:r>
                      <a:r>
                        <a:rPr lang="en-US" sz="1200" b="1" dirty="0"/>
                        <a:t>walking, falling, swinging hand for help, seizure, restless movement, and other behaviors</a:t>
                      </a:r>
                      <a:r>
                        <a:rPr lang="en-US" sz="1200" dirty="0"/>
                        <a:t> in a two-patient hospital-like setting</a:t>
                      </a:r>
                      <a:endParaRPr 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They used PC for tracking patients and separation while doppler spectrograms used for 3-layer CNN inputs </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Though designed </a:t>
                      </a:r>
                      <a:r>
                        <a:rPr lang="en-US" sz="1200" b="1" dirty="0">
                          <a:solidFill>
                            <a:schemeClr val="tx1"/>
                          </a:solidFill>
                          <a:latin typeface="Times New Roman" panose="02020603050405020304" pitchFamily="18" charset="0"/>
                          <a:cs typeface="Times New Roman" panose="02020603050405020304" pitchFamily="18" charset="0"/>
                        </a:rPr>
                        <a:t>critical healthcare monitoring for two persons</a:t>
                      </a:r>
                      <a:r>
                        <a:rPr lang="en-US" sz="1200" dirty="0">
                          <a:solidFill>
                            <a:schemeClr val="tx1"/>
                          </a:solidFill>
                          <a:latin typeface="Times New Roman" panose="02020603050405020304" pitchFamily="18" charset="0"/>
                          <a:cs typeface="Times New Roman" panose="02020603050405020304" pitchFamily="18" charset="0"/>
                        </a:rPr>
                        <a:t>, not for general social behavior understanding</a:t>
                      </a:r>
                    </a:p>
                  </a:txBody>
                  <a:tcPr anchor="ctr"/>
                </a:tc>
                <a:extLst>
                  <a:ext uri="{0D108BD9-81ED-4DB2-BD59-A6C34878D82A}">
                    <a16:rowId xmlns:a16="http://schemas.microsoft.com/office/drawing/2014/main" val="1102880486"/>
                  </a:ext>
                </a:extLst>
              </a:tr>
            </a:tbl>
          </a:graphicData>
        </a:graphic>
      </p:graphicFrame>
      <p:sp>
        <p:nvSpPr>
          <p:cNvPr id="4" name="Slide Number Placeholder 3">
            <a:extLst>
              <a:ext uri="{FF2B5EF4-FFF2-40B4-BE49-F238E27FC236}">
                <a16:creationId xmlns:a16="http://schemas.microsoft.com/office/drawing/2014/main" id="{EB5F7665-4DFA-A2AD-E0F6-17C11E4F5E4A}"/>
              </a:ext>
            </a:extLst>
          </p:cNvPr>
          <p:cNvSpPr>
            <a:spLocks noGrp="1"/>
          </p:cNvSpPr>
          <p:nvPr>
            <p:ph type="sldNum" sz="quarter" idx="12"/>
          </p:nvPr>
        </p:nvSpPr>
        <p:spPr/>
        <p:txBody>
          <a:bodyPr/>
          <a:lstStyle/>
          <a:p>
            <a:fld id="{C45F31B8-6562-4A36-A35A-9CD554BAFD2A}" type="slidenum">
              <a:rPr lang="en-US" smtClean="0"/>
              <a:t>9</a:t>
            </a:fld>
            <a:endParaRPr lang="en-US"/>
          </a:p>
        </p:txBody>
      </p:sp>
    </p:spTree>
    <p:extLst>
      <p:ext uri="{BB962C8B-B14F-4D97-AF65-F5344CB8AC3E}">
        <p14:creationId xmlns:p14="http://schemas.microsoft.com/office/powerpoint/2010/main" val="1636830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0A681D-B1B6-3C48-713A-36B1ECEC5D0A}"/>
              </a:ext>
            </a:extLst>
          </p:cNvPr>
          <p:cNvSpPr>
            <a:spLocks noGrp="1"/>
          </p:cNvSpPr>
          <p:nvPr>
            <p:ph idx="1"/>
          </p:nvPr>
        </p:nvSpPr>
        <p:spPr/>
        <p:txBody>
          <a:bodyPr/>
          <a:lstStyle/>
          <a:p>
            <a:endParaRPr lang="en-US" dirty="0"/>
          </a:p>
        </p:txBody>
      </p:sp>
      <p:sp>
        <p:nvSpPr>
          <p:cNvPr id="3" name="Slide Number Placeholder 2">
            <a:extLst>
              <a:ext uri="{FF2B5EF4-FFF2-40B4-BE49-F238E27FC236}">
                <a16:creationId xmlns:a16="http://schemas.microsoft.com/office/drawing/2014/main" id="{AA79DCDD-164C-40BE-469F-126471D5B504}"/>
              </a:ext>
            </a:extLst>
          </p:cNvPr>
          <p:cNvSpPr>
            <a:spLocks noGrp="1"/>
          </p:cNvSpPr>
          <p:nvPr>
            <p:ph type="sldNum" sz="quarter" idx="12"/>
          </p:nvPr>
        </p:nvSpPr>
        <p:spPr/>
        <p:txBody>
          <a:bodyPr/>
          <a:lstStyle/>
          <a:p>
            <a:fld id="{C45F31B8-6562-4A36-A35A-9CD554BAFD2A}" type="slidenum">
              <a:rPr lang="en-US" smtClean="0"/>
              <a:t>10</a:t>
            </a:fld>
            <a:endParaRPr lang="en-US"/>
          </a:p>
        </p:txBody>
      </p:sp>
      <p:sp>
        <p:nvSpPr>
          <p:cNvPr id="4" name="Title 1">
            <a:extLst>
              <a:ext uri="{FF2B5EF4-FFF2-40B4-BE49-F238E27FC236}">
                <a16:creationId xmlns:a16="http://schemas.microsoft.com/office/drawing/2014/main" id="{EE578411-5978-D70F-41E3-32807B9DB8B4}"/>
              </a:ext>
            </a:extLst>
          </p:cNvPr>
          <p:cNvSpPr txBox="1">
            <a:spLocks/>
          </p:cNvSpPr>
          <p:nvPr/>
        </p:nvSpPr>
        <p:spPr>
          <a:xfrm>
            <a:off x="366308" y="189006"/>
            <a:ext cx="10515600" cy="689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panose="02020603050405020304" pitchFamily="18" charset="0"/>
                <a:cs typeface="Times New Roman" panose="02020603050405020304" pitchFamily="18" charset="0"/>
              </a:rPr>
              <a:t>Research Goal</a:t>
            </a:r>
          </a:p>
        </p:txBody>
      </p:sp>
    </p:spTree>
    <p:extLst>
      <p:ext uri="{BB962C8B-B14F-4D97-AF65-F5344CB8AC3E}">
        <p14:creationId xmlns:p14="http://schemas.microsoft.com/office/powerpoint/2010/main" val="2178252225"/>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B89A1-12D6-9D69-0BBC-11FDF0382847}"/>
              </a:ext>
            </a:extLst>
          </p:cNvPr>
          <p:cNvSpPr>
            <a:spLocks noGrp="1"/>
          </p:cNvSpPr>
          <p:nvPr>
            <p:ph type="title" idx="4294967295"/>
          </p:nvPr>
        </p:nvSpPr>
        <p:spPr>
          <a:xfrm>
            <a:off x="0" y="136526"/>
            <a:ext cx="10515600" cy="599914"/>
          </a:xfrm>
          <a:prstGeom prst="rect">
            <a:avLst/>
          </a:prstGeom>
        </p:spPr>
        <p:txBody>
          <a:bodyPr/>
          <a:lstStyle/>
          <a:p>
            <a:r>
              <a:rPr lang="en-US" sz="4200" dirty="0">
                <a:latin typeface="Times New Roman" panose="02020603050405020304" pitchFamily="18" charset="0"/>
                <a:ea typeface="ADLaM Display" panose="020F0502020204030204" pitchFamily="2" charset="0"/>
                <a:cs typeface="Times New Roman" panose="02020603050405020304" pitchFamily="18" charset="0"/>
              </a:rPr>
              <a:t>   </a:t>
            </a:r>
            <a:r>
              <a:rPr lang="en-US" sz="4200" dirty="0" err="1">
                <a:latin typeface="Times New Roman" panose="02020603050405020304" pitchFamily="18" charset="0"/>
                <a:ea typeface="ADLaM Display" panose="020F0502020204030204" pitchFamily="2" charset="0"/>
                <a:cs typeface="Times New Roman" panose="02020603050405020304" pitchFamily="18" charset="0"/>
              </a:rPr>
              <a:t>mmWave</a:t>
            </a:r>
            <a:r>
              <a:rPr lang="en-US" sz="4200" dirty="0">
                <a:latin typeface="Times New Roman" panose="02020603050405020304" pitchFamily="18" charset="0"/>
                <a:ea typeface="ADLaM Display" panose="020F0502020204030204" pitchFamily="2" charset="0"/>
                <a:cs typeface="Times New Roman" panose="02020603050405020304" pitchFamily="18" charset="0"/>
              </a:rPr>
              <a:t> Radar Fundamental</a:t>
            </a:r>
          </a:p>
        </p:txBody>
      </p:sp>
      <mc:AlternateContent xmlns:mc="http://schemas.openxmlformats.org/markup-compatibility/2006" xmlns:a14="http://schemas.microsoft.com/office/drawing/2010/main">
        <mc:Choice Requires="a14">
          <p:sp>
            <p:nvSpPr>
              <p:cNvPr id="7" name="Rectangle 9">
                <a:extLst>
                  <a:ext uri="{FF2B5EF4-FFF2-40B4-BE49-F238E27FC236}">
                    <a16:creationId xmlns:a16="http://schemas.microsoft.com/office/drawing/2014/main" id="{C875B42F-FCF6-4FB7-FC9C-7493F55E7694}"/>
                  </a:ext>
                </a:extLst>
              </p:cNvPr>
              <p:cNvSpPr>
                <a:spLocks noGrp="1" noChangeArrowheads="1"/>
              </p:cNvSpPr>
              <p:nvPr>
                <p:ph idx="1"/>
              </p:nvPr>
            </p:nvSpPr>
            <p:spPr bwMode="auto">
              <a:xfrm>
                <a:off x="563301" y="2920919"/>
                <a:ext cx="5041634" cy="29495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mmWave radar continuously transmits singles (FMCW) called chirp</a:t>
                </a: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Calculate Range from the delay </a:t>
                </a:r>
                <a14:m>
                  <m:oMath xmlns:m="http://schemas.openxmlformats.org/officeDocument/2006/math">
                    <m:r>
                      <a:rPr lang="en-US" sz="1600" i="1">
                        <a:latin typeface="Cambria Math" panose="02040503050406030204" pitchFamily="18" charset="0"/>
                      </a:rPr>
                      <m:t>𝜏</m:t>
                    </m:r>
                  </m:oMath>
                </a14:m>
                <a:r>
                  <a:rPr lang="en-US" sz="1600" dirty="0">
                    <a:latin typeface="Times New Roman" panose="02020603050405020304" pitchFamily="18" charset="0"/>
                    <a:cs typeface="Times New Roman" panose="02020603050405020304" pitchFamily="18" charset="0"/>
                  </a:rPr>
                  <a:t> by doing FFT</a:t>
                </a: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Implementing 2D FFT, get Doppler or Velocity information</a:t>
                </a: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Computed </a:t>
                </a:r>
                <a:r>
                  <a:rPr lang="en-US" sz="1600" dirty="0" err="1">
                    <a:latin typeface="Times New Roman" panose="02020603050405020304" pitchFamily="18" charset="0"/>
                    <a:cs typeface="Times New Roman" panose="02020603050405020304" pitchFamily="18" charset="0"/>
                  </a:rPr>
                  <a:t>AoA</a:t>
                </a:r>
                <a:r>
                  <a:rPr lang="en-US" sz="1600" dirty="0">
                    <a:latin typeface="Times New Roman" panose="02020603050405020304" pitchFamily="18" charset="0"/>
                    <a:cs typeface="Times New Roman" panose="02020603050405020304" pitchFamily="18" charset="0"/>
                  </a:rPr>
                  <a:t> by Phase difference of RX antennas and Maximum </a:t>
                </a:r>
                <a:r>
                  <a:rPr lang="en-US" sz="1600" dirty="0" err="1">
                    <a:latin typeface="Times New Roman" panose="02020603050405020304" pitchFamily="18" charset="0"/>
                    <a:cs typeface="Times New Roman" panose="02020603050405020304" pitchFamily="18" charset="0"/>
                  </a:rPr>
                  <a:t>AoA</a:t>
                </a:r>
                <a:r>
                  <a:rPr lang="en-US" sz="1600" dirty="0">
                    <a:latin typeface="Times New Roman" panose="02020603050405020304" pitchFamily="18" charset="0"/>
                    <a:cs typeface="Times New Roman" panose="02020603050405020304" pitchFamily="18" charset="0"/>
                  </a:rPr>
                  <a:t>  or Sensor </a:t>
                </a:r>
                <a:r>
                  <a:rPr lang="en-US" sz="1600" dirty="0" err="1">
                    <a:latin typeface="Times New Roman" panose="02020603050405020304" pitchFamily="18" charset="0"/>
                    <a:cs typeface="Times New Roman" panose="02020603050405020304" pitchFamily="18" charset="0"/>
                  </a:rPr>
                  <a:t>FoV</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Eventually Range, Doppler, and </a:t>
                </a:r>
                <a:r>
                  <a:rPr lang="en-US" sz="1600" dirty="0" err="1">
                    <a:latin typeface="Times New Roman" panose="02020603050405020304" pitchFamily="18" charset="0"/>
                    <a:cs typeface="Times New Roman" panose="02020603050405020304" pitchFamily="18" charset="0"/>
                  </a:rPr>
                  <a:t>AoA</a:t>
                </a:r>
                <a:r>
                  <a:rPr lang="en-US" sz="1600" dirty="0">
                    <a:latin typeface="Times New Roman" panose="02020603050405020304" pitchFamily="18" charset="0"/>
                    <a:cs typeface="Times New Roman" panose="02020603050405020304" pitchFamily="18" charset="0"/>
                  </a:rPr>
                  <a:t> provides get object’s </a:t>
                </a:r>
                <a:r>
                  <a:rPr lang="en-US" sz="1600" dirty="0" err="1">
                    <a:latin typeface="Times New Roman" panose="02020603050405020304" pitchFamily="18" charset="0"/>
                    <a:cs typeface="Times New Roman" panose="02020603050405020304" pitchFamily="18" charset="0"/>
                  </a:rPr>
                  <a:t>spational</a:t>
                </a:r>
                <a:r>
                  <a:rPr lang="en-US" sz="1600" dirty="0">
                    <a:latin typeface="Times New Roman" panose="02020603050405020304" pitchFamily="18" charset="0"/>
                    <a:cs typeface="Times New Roman" panose="02020603050405020304" pitchFamily="18" charset="0"/>
                  </a:rPr>
                  <a:t> information, doppler and SNR</a:t>
                </a:r>
              </a:p>
              <a:p>
                <a:pPr algn="just">
                  <a:buFont typeface="Wingdings" panose="05000000000000000000" pitchFamily="2" charset="2"/>
                  <a:buChar char="§"/>
                </a:pPr>
                <a:endParaRPr lang="en-US" sz="1600" b="0" i="0" dirty="0">
                  <a:effectLst/>
                  <a:latin typeface="Times New Roman" panose="02020603050405020304" pitchFamily="18" charset="0"/>
                  <a:cs typeface="Times New Roman" panose="02020603050405020304" pitchFamily="18" charset="0"/>
                </a:endParaRPr>
              </a:p>
            </p:txBody>
          </p:sp>
        </mc:Choice>
        <mc:Fallback xmlns="">
          <p:sp>
            <p:nvSpPr>
              <p:cNvPr id="7" name="Rectangle 9">
                <a:extLst>
                  <a:ext uri="{FF2B5EF4-FFF2-40B4-BE49-F238E27FC236}">
                    <a16:creationId xmlns:a16="http://schemas.microsoft.com/office/drawing/2014/main" id="{C875B42F-FCF6-4FB7-FC9C-7493F55E7694}"/>
                  </a:ext>
                </a:extLst>
              </p:cNvPr>
              <p:cNvSpPr>
                <a:spLocks noGrp="1" noRot="1" noChangeAspect="1" noMove="1" noResize="1" noEditPoints="1" noAdjustHandles="1" noChangeArrowheads="1" noChangeShapeType="1" noTextEdit="1"/>
              </p:cNvSpPr>
              <p:nvPr>
                <p:ph idx="1"/>
              </p:nvPr>
            </p:nvSpPr>
            <p:spPr bwMode="auto">
              <a:xfrm>
                <a:off x="563301" y="2920919"/>
                <a:ext cx="5041634" cy="2949525"/>
              </a:xfrm>
              <a:prstGeom prst="rect">
                <a:avLst/>
              </a:prstGeom>
              <a:blipFill>
                <a:blip r:embed="rId2"/>
                <a:stretch>
                  <a:fillRect l="-484" t="-1033" r="-72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 name="TextBox 3">
            <a:extLst>
              <a:ext uri="{FF2B5EF4-FFF2-40B4-BE49-F238E27FC236}">
                <a16:creationId xmlns:a16="http://schemas.microsoft.com/office/drawing/2014/main" id="{0C52854D-1A00-F7BC-1A29-7D1C93AE4ADB}"/>
              </a:ext>
            </a:extLst>
          </p:cNvPr>
          <p:cNvSpPr txBox="1"/>
          <p:nvPr/>
        </p:nvSpPr>
        <p:spPr>
          <a:xfrm>
            <a:off x="3817609" y="5940362"/>
            <a:ext cx="427497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2:  </a:t>
            </a:r>
            <a:r>
              <a:rPr lang="en-US" dirty="0" err="1">
                <a:latin typeface="Times New Roman" panose="02020603050405020304" pitchFamily="18" charset="0"/>
                <a:cs typeface="Times New Roman" panose="02020603050405020304" pitchFamily="18" charset="0"/>
              </a:rPr>
              <a:t>mmWave</a:t>
            </a:r>
            <a:r>
              <a:rPr lang="en-US" dirty="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Radar Fundamental</a:t>
            </a:r>
            <a:endParaRPr lang="en-US"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F6E1FEE8-7F71-92EF-D09A-2CF59EF689EE}"/>
              </a:ext>
            </a:extLst>
          </p:cNvPr>
          <p:cNvSpPr>
            <a:spLocks noGrp="1"/>
          </p:cNvSpPr>
          <p:nvPr>
            <p:ph type="sldNum" sz="quarter" idx="12"/>
          </p:nvPr>
        </p:nvSpPr>
        <p:spPr/>
        <p:txBody>
          <a:bodyPr/>
          <a:lstStyle/>
          <a:p>
            <a:fld id="{C45F31B8-6562-4A36-A35A-9CD554BAFD2A}" type="slidenum">
              <a:rPr lang="en-US" smtClean="0"/>
              <a:t>11</a:t>
            </a:fld>
            <a:endParaRPr lang="en-US"/>
          </a:p>
        </p:txBody>
      </p:sp>
      <p:pic>
        <p:nvPicPr>
          <p:cNvPr id="9" name="Picture 8">
            <a:extLst>
              <a:ext uri="{FF2B5EF4-FFF2-40B4-BE49-F238E27FC236}">
                <a16:creationId xmlns:a16="http://schemas.microsoft.com/office/drawing/2014/main" id="{4C797EF0-4EDE-4D61-937B-B101529CD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0949" y="1383588"/>
            <a:ext cx="5897750" cy="3909625"/>
          </a:xfrm>
          <a:prstGeom prst="rect">
            <a:avLst/>
          </a:prstGeom>
        </p:spPr>
      </p:pic>
      <p:pic>
        <p:nvPicPr>
          <p:cNvPr id="11" name="Picture 10">
            <a:extLst>
              <a:ext uri="{FF2B5EF4-FFF2-40B4-BE49-F238E27FC236}">
                <a16:creationId xmlns:a16="http://schemas.microsoft.com/office/drawing/2014/main" id="{D34E7E85-B158-418F-B34B-601F8F1ACC02}"/>
              </a:ext>
            </a:extLst>
          </p:cNvPr>
          <p:cNvPicPr>
            <a:picLocks noChangeAspect="1"/>
          </p:cNvPicPr>
          <p:nvPr/>
        </p:nvPicPr>
        <p:blipFill>
          <a:blip r:embed="rId4"/>
          <a:stretch>
            <a:fillRect/>
          </a:stretch>
        </p:blipFill>
        <p:spPr>
          <a:xfrm>
            <a:off x="799258" y="1131102"/>
            <a:ext cx="3923107" cy="1465257"/>
          </a:xfrm>
          <a:prstGeom prst="rect">
            <a:avLst/>
          </a:prstGeom>
        </p:spPr>
      </p:pic>
    </p:spTree>
    <p:extLst>
      <p:ext uri="{BB962C8B-B14F-4D97-AF65-F5344CB8AC3E}">
        <p14:creationId xmlns:p14="http://schemas.microsoft.com/office/powerpoint/2010/main" val="158242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4DDA-EFD4-C9F5-B5F6-BD16BFAEF933}"/>
              </a:ext>
            </a:extLst>
          </p:cNvPr>
          <p:cNvSpPr>
            <a:spLocks noGrp="1"/>
          </p:cNvSpPr>
          <p:nvPr>
            <p:ph type="title"/>
          </p:nvPr>
        </p:nvSpPr>
        <p:spPr>
          <a:xfrm>
            <a:off x="393620" y="219810"/>
            <a:ext cx="10515600" cy="703874"/>
          </a:xfrm>
        </p:spPr>
        <p:txBody>
          <a:bodyPr>
            <a:normAutofit/>
          </a:bodyPr>
          <a:lstStyle/>
          <a:p>
            <a:r>
              <a:rPr lang="en-US" sz="4200" b="1" dirty="0">
                <a:latin typeface="Times New Roman" panose="02020603050405020304" pitchFamily="18" charset="0"/>
                <a:cs typeface="Times New Roman" panose="02020603050405020304" pitchFamily="18" charset="0"/>
              </a:rPr>
              <a:t>Sensor Setup</a:t>
            </a:r>
          </a:p>
        </p:txBody>
      </p:sp>
      <p:grpSp>
        <p:nvGrpSpPr>
          <p:cNvPr id="19" name="Group 18">
            <a:extLst>
              <a:ext uri="{FF2B5EF4-FFF2-40B4-BE49-F238E27FC236}">
                <a16:creationId xmlns:a16="http://schemas.microsoft.com/office/drawing/2014/main" id="{69419271-7B28-3879-BD31-0F5B2F19DCD4}"/>
              </a:ext>
            </a:extLst>
          </p:cNvPr>
          <p:cNvGrpSpPr/>
          <p:nvPr/>
        </p:nvGrpSpPr>
        <p:grpSpPr>
          <a:xfrm>
            <a:off x="283103" y="1239545"/>
            <a:ext cx="11070697" cy="4256675"/>
            <a:chOff x="5715525" y="1817819"/>
            <a:chExt cx="5812896" cy="3890714"/>
          </a:xfrm>
        </p:grpSpPr>
        <p:sp>
          <p:nvSpPr>
            <p:cNvPr id="7" name="Rectangle 6">
              <a:extLst>
                <a:ext uri="{FF2B5EF4-FFF2-40B4-BE49-F238E27FC236}">
                  <a16:creationId xmlns:a16="http://schemas.microsoft.com/office/drawing/2014/main" id="{1E24CC89-145E-F383-0E9F-B4A1E8E9C6F7}"/>
                </a:ext>
              </a:extLst>
            </p:cNvPr>
            <p:cNvSpPr/>
            <p:nvPr/>
          </p:nvSpPr>
          <p:spPr>
            <a:xfrm>
              <a:off x="5715525" y="1817820"/>
              <a:ext cx="1770477" cy="1738312"/>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Download </a:t>
              </a:r>
              <a:r>
                <a:rPr lang="en-US" sz="1600" dirty="0" err="1">
                  <a:latin typeface="Times New Roman" panose="02020603050405020304" pitchFamily="18" charset="0"/>
                  <a:cs typeface="Times New Roman" panose="02020603050405020304" pitchFamily="18" charset="0"/>
                </a:rPr>
                <a:t>mmwave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SDK</a:t>
              </a:r>
              <a:r>
                <a:rPr lang="en-US" sz="1600" dirty="0">
                  <a:latin typeface="Times New Roman" panose="02020603050405020304" pitchFamily="18" charset="0"/>
                  <a:cs typeface="Times New Roman" panose="02020603050405020304" pitchFamily="18" charset="0"/>
                </a:rPr>
                <a:t> (V 3.5.0.0) for necessary bin files and source code</a:t>
              </a:r>
            </a:p>
          </p:txBody>
        </p:sp>
        <p:grpSp>
          <p:nvGrpSpPr>
            <p:cNvPr id="8" name="Group 7">
              <a:extLst>
                <a:ext uri="{FF2B5EF4-FFF2-40B4-BE49-F238E27FC236}">
                  <a16:creationId xmlns:a16="http://schemas.microsoft.com/office/drawing/2014/main" id="{17D605BF-66FE-1050-49BC-697F876BD57F}"/>
                </a:ext>
              </a:extLst>
            </p:cNvPr>
            <p:cNvGrpSpPr/>
            <p:nvPr/>
          </p:nvGrpSpPr>
          <p:grpSpPr>
            <a:xfrm>
              <a:off x="6639653" y="1817819"/>
              <a:ext cx="4888768" cy="3890714"/>
              <a:chOff x="2090826" y="1768239"/>
              <a:chExt cx="7837731" cy="3890714"/>
            </a:xfrm>
          </p:grpSpPr>
          <p:sp>
            <p:nvSpPr>
              <p:cNvPr id="9" name="Rectangle 8">
                <a:extLst>
                  <a:ext uri="{FF2B5EF4-FFF2-40B4-BE49-F238E27FC236}">
                    <a16:creationId xmlns:a16="http://schemas.microsoft.com/office/drawing/2014/main" id="{47255848-C7C8-2E99-CC05-47CE2F902CF1}"/>
                  </a:ext>
                </a:extLst>
              </p:cNvPr>
              <p:cNvSpPr/>
              <p:nvPr/>
            </p:nvSpPr>
            <p:spPr>
              <a:xfrm>
                <a:off x="4404968" y="1768240"/>
                <a:ext cx="2313070" cy="173831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Flashing TI prebuilt firmware (e.g. 3D people Tacking) using </a:t>
                </a:r>
              </a:p>
              <a:p>
                <a:pPr algn="ctr"/>
                <a:r>
                  <a:rPr lang="en-US" sz="1600" b="1" dirty="0" err="1">
                    <a:latin typeface="Times New Roman" panose="02020603050405020304" pitchFamily="18" charset="0"/>
                    <a:cs typeface="Times New Roman" panose="02020603050405020304" pitchFamily="18" charset="0"/>
                  </a:rPr>
                  <a:t>UniFlash</a:t>
                </a:r>
                <a:r>
                  <a:rPr lang="en-US" sz="1600" dirty="0">
                    <a:latin typeface="Times New Roman" panose="02020603050405020304" pitchFamily="18" charset="0"/>
                    <a:cs typeface="Times New Roman" panose="02020603050405020304" pitchFamily="18" charset="0"/>
                  </a:rPr>
                  <a:t> software</a:t>
                </a:r>
              </a:p>
            </p:txBody>
          </p:sp>
          <p:sp>
            <p:nvSpPr>
              <p:cNvPr id="10" name="Rectangle 9">
                <a:extLst>
                  <a:ext uri="{FF2B5EF4-FFF2-40B4-BE49-F238E27FC236}">
                    <a16:creationId xmlns:a16="http://schemas.microsoft.com/office/drawing/2014/main" id="{A9D43B1C-708D-892C-38F8-72841A801045}"/>
                  </a:ext>
                </a:extLst>
              </p:cNvPr>
              <p:cNvSpPr/>
              <p:nvPr/>
            </p:nvSpPr>
            <p:spPr>
              <a:xfrm>
                <a:off x="6276764" y="3954713"/>
                <a:ext cx="2685139" cy="1609223"/>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Use own custom-made python script for parsing data</a:t>
                </a:r>
              </a:p>
            </p:txBody>
          </p:sp>
          <p:sp>
            <p:nvSpPr>
              <p:cNvPr id="11" name="Rectangle 10">
                <a:extLst>
                  <a:ext uri="{FF2B5EF4-FFF2-40B4-BE49-F238E27FC236}">
                    <a16:creationId xmlns:a16="http://schemas.microsoft.com/office/drawing/2014/main" id="{07EE8CD4-207D-07EF-1EEE-FC9A35EDB008}"/>
                  </a:ext>
                </a:extLst>
              </p:cNvPr>
              <p:cNvSpPr/>
              <p:nvPr/>
            </p:nvSpPr>
            <p:spPr>
              <a:xfrm>
                <a:off x="7243418" y="1768239"/>
                <a:ext cx="2685139" cy="1738311"/>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Wrote the </a:t>
                </a:r>
                <a:r>
                  <a:rPr lang="en-US" sz="1600" dirty="0" err="1">
                    <a:latin typeface="Times New Roman" panose="02020603050405020304" pitchFamily="18" charset="0"/>
                    <a:cs typeface="Times New Roman" panose="02020603050405020304" pitchFamily="18" charset="0"/>
                  </a:rPr>
                  <a:t>cfg</a:t>
                </a:r>
                <a:r>
                  <a:rPr lang="en-US" sz="1600" dirty="0">
                    <a:latin typeface="Times New Roman" panose="02020603050405020304" pitchFamily="18" charset="0"/>
                    <a:cs typeface="Times New Roman" panose="02020603050405020304" pitchFamily="18" charset="0"/>
                  </a:rPr>
                  <a:t> file according to environment and exp setup</a:t>
                </a:r>
              </a:p>
            </p:txBody>
          </p:sp>
          <p:sp>
            <p:nvSpPr>
              <p:cNvPr id="12" name="Rectangle 11">
                <a:extLst>
                  <a:ext uri="{FF2B5EF4-FFF2-40B4-BE49-F238E27FC236}">
                    <a16:creationId xmlns:a16="http://schemas.microsoft.com/office/drawing/2014/main" id="{E66D0145-CDCF-35EC-82F6-B354F265E56A}"/>
                  </a:ext>
                </a:extLst>
              </p:cNvPr>
              <p:cNvSpPr/>
              <p:nvPr/>
            </p:nvSpPr>
            <p:spPr>
              <a:xfrm>
                <a:off x="2090826" y="4049730"/>
                <a:ext cx="2762700" cy="1609223"/>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Get </a:t>
                </a:r>
                <a:r>
                  <a:rPr lang="en-US" sz="1600" b="1" dirty="0">
                    <a:latin typeface="Times New Roman" panose="02020603050405020304" pitchFamily="18" charset="0"/>
                    <a:cs typeface="Times New Roman" panose="02020603050405020304" pitchFamily="18" charset="0"/>
                  </a:rPr>
                  <a:t>the UART raw data </a:t>
                </a:r>
                <a:r>
                  <a:rPr lang="en-US" sz="1600" dirty="0">
                    <a:latin typeface="Times New Roman" panose="02020603050405020304" pitchFamily="18" charset="0"/>
                    <a:cs typeface="Times New Roman" panose="02020603050405020304" pitchFamily="18" charset="0"/>
                  </a:rPr>
                  <a:t>as bytes. Get preferred </a:t>
                </a:r>
                <a:r>
                  <a:rPr lang="en-US" sz="1600" b="1" dirty="0">
                    <a:latin typeface="Times New Roman" panose="02020603050405020304" pitchFamily="18" charset="0"/>
                    <a:cs typeface="Times New Roman" panose="02020603050405020304" pitchFamily="18" charset="0"/>
                  </a:rPr>
                  <a:t>TLV data </a:t>
                </a:r>
                <a:r>
                  <a:rPr lang="en-US" sz="1600" dirty="0">
                    <a:latin typeface="Times New Roman" panose="02020603050405020304" pitchFamily="18" charset="0"/>
                    <a:cs typeface="Times New Roman" panose="02020603050405020304" pitchFamily="18" charset="0"/>
                  </a:rPr>
                  <a:t>according to experiment (e.g. Point Cloud, Track Data)</a:t>
                </a:r>
              </a:p>
            </p:txBody>
          </p:sp>
        </p:grpSp>
      </p:grpSp>
      <p:sp>
        <p:nvSpPr>
          <p:cNvPr id="4" name="Slide Number Placeholder 3">
            <a:extLst>
              <a:ext uri="{FF2B5EF4-FFF2-40B4-BE49-F238E27FC236}">
                <a16:creationId xmlns:a16="http://schemas.microsoft.com/office/drawing/2014/main" id="{A61021A8-F1A9-512D-11CB-5281DAFCFC07}"/>
              </a:ext>
            </a:extLst>
          </p:cNvPr>
          <p:cNvSpPr>
            <a:spLocks noGrp="1"/>
          </p:cNvSpPr>
          <p:nvPr>
            <p:ph type="sldNum" sz="quarter" idx="12"/>
          </p:nvPr>
        </p:nvSpPr>
        <p:spPr/>
        <p:txBody>
          <a:bodyPr/>
          <a:lstStyle/>
          <a:p>
            <a:fld id="{C45F31B8-6562-4A36-A35A-9CD554BAFD2A}" type="slidenum">
              <a:rPr lang="en-US" smtClean="0"/>
              <a:t>12</a:t>
            </a:fld>
            <a:endParaRPr lang="en-US"/>
          </a:p>
        </p:txBody>
      </p:sp>
      <p:cxnSp>
        <p:nvCxnSpPr>
          <p:cNvPr id="5" name="Straight Arrow Connector 4">
            <a:extLst>
              <a:ext uri="{FF2B5EF4-FFF2-40B4-BE49-F238E27FC236}">
                <a16:creationId xmlns:a16="http://schemas.microsoft.com/office/drawing/2014/main" id="{1D2EAC29-16BC-82EA-E4F0-C5A2C994E236}"/>
              </a:ext>
            </a:extLst>
          </p:cNvPr>
          <p:cNvCxnSpPr>
            <a:cxnSpLocks/>
            <a:stCxn id="7" idx="3"/>
            <a:endCxn id="9" idx="1"/>
          </p:cNvCxnSpPr>
          <p:nvPr/>
        </p:nvCxnSpPr>
        <p:spPr>
          <a:xfrm flipV="1">
            <a:off x="3654988" y="2190454"/>
            <a:ext cx="1137166"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3973459A-4CC1-2964-9AB8-3E58BAC9FC79}"/>
              </a:ext>
            </a:extLst>
          </p:cNvPr>
          <p:cNvCxnSpPr>
            <a:cxnSpLocks/>
          </p:cNvCxnSpPr>
          <p:nvPr/>
        </p:nvCxnSpPr>
        <p:spPr>
          <a:xfrm>
            <a:off x="9476355" y="3141362"/>
            <a:ext cx="0" cy="49031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3C87F749-90D9-A6F1-9040-0B7293EF93F5}"/>
              </a:ext>
            </a:extLst>
          </p:cNvPr>
          <p:cNvCxnSpPr/>
          <p:nvPr/>
        </p:nvCxnSpPr>
        <p:spPr>
          <a:xfrm>
            <a:off x="7566946" y="2119951"/>
            <a:ext cx="5970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FFC68EC3-B245-DD2F-374C-89DD70D66059}"/>
              </a:ext>
            </a:extLst>
          </p:cNvPr>
          <p:cNvCxnSpPr>
            <a:cxnSpLocks/>
            <a:endCxn id="12" idx="3"/>
          </p:cNvCxnSpPr>
          <p:nvPr/>
        </p:nvCxnSpPr>
        <p:spPr>
          <a:xfrm flipH="1">
            <a:off x="5325010" y="4615927"/>
            <a:ext cx="16907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9C5D37A5-B644-59A5-22D2-F6F7FD2388E5}"/>
              </a:ext>
            </a:extLst>
          </p:cNvPr>
          <p:cNvCxnSpPr/>
          <p:nvPr/>
        </p:nvCxnSpPr>
        <p:spPr>
          <a:xfrm>
            <a:off x="283103" y="923684"/>
            <a:ext cx="11328524"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78674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280E-3BCC-791F-1326-4815099C8BBB}"/>
              </a:ext>
            </a:extLst>
          </p:cNvPr>
          <p:cNvSpPr>
            <a:spLocks noGrp="1"/>
          </p:cNvSpPr>
          <p:nvPr>
            <p:ph type="title" idx="4294967295"/>
          </p:nvPr>
        </p:nvSpPr>
        <p:spPr>
          <a:xfrm>
            <a:off x="343335" y="241001"/>
            <a:ext cx="10515600" cy="1325563"/>
          </a:xfrm>
          <a:prstGeom prst="rect">
            <a:avLst/>
          </a:prstGeom>
        </p:spPr>
        <p:txBody>
          <a:bodyPr/>
          <a:lstStyle/>
          <a:p>
            <a:r>
              <a:rPr lang="en-US" sz="4000" dirty="0">
                <a:latin typeface="Times New Roman" panose="02020603050405020304" pitchFamily="18" charset="0"/>
                <a:cs typeface="Times New Roman" panose="02020603050405020304" pitchFamily="18" charset="0"/>
              </a:rPr>
              <a:t>Sensor Setup (Configuration Parameter)</a:t>
            </a:r>
            <a:endParaRPr lang="en-US" sz="4000" dirty="0"/>
          </a:p>
        </p:txBody>
      </p:sp>
      <p:graphicFrame>
        <p:nvGraphicFramePr>
          <p:cNvPr id="5" name="Content Placeholder 4">
            <a:extLst>
              <a:ext uri="{FF2B5EF4-FFF2-40B4-BE49-F238E27FC236}">
                <a16:creationId xmlns:a16="http://schemas.microsoft.com/office/drawing/2014/main" id="{A8E62465-FC69-BA2F-3EBD-ED442D3D946E}"/>
              </a:ext>
            </a:extLst>
          </p:cNvPr>
          <p:cNvGraphicFramePr>
            <a:graphicFrameLocks noGrp="1"/>
          </p:cNvGraphicFramePr>
          <p:nvPr>
            <p:ph idx="1"/>
            <p:extLst>
              <p:ext uri="{D42A27DB-BD31-4B8C-83A1-F6EECF244321}">
                <p14:modId xmlns:p14="http://schemas.microsoft.com/office/powerpoint/2010/main" val="559491623"/>
              </p:ext>
            </p:extLst>
          </p:nvPr>
        </p:nvGraphicFramePr>
        <p:xfrm>
          <a:off x="1038626" y="1232876"/>
          <a:ext cx="10114748" cy="4663440"/>
        </p:xfrm>
        <a:graphic>
          <a:graphicData uri="http://schemas.openxmlformats.org/drawingml/2006/table">
            <a:tbl>
              <a:tblPr firstRow="1" bandRow="1">
                <a:tableStyleId>{5C22544A-7EE6-4342-B048-85BDC9FD1C3A}</a:tableStyleId>
              </a:tblPr>
              <a:tblGrid>
                <a:gridCol w="5851506">
                  <a:extLst>
                    <a:ext uri="{9D8B030D-6E8A-4147-A177-3AD203B41FA5}">
                      <a16:colId xmlns:a16="http://schemas.microsoft.com/office/drawing/2014/main" val="3445292469"/>
                    </a:ext>
                  </a:extLst>
                </a:gridCol>
                <a:gridCol w="4263242">
                  <a:extLst>
                    <a:ext uri="{9D8B030D-6E8A-4147-A177-3AD203B41FA5}">
                      <a16:colId xmlns:a16="http://schemas.microsoft.com/office/drawing/2014/main" val="1407307715"/>
                    </a:ext>
                  </a:extLst>
                </a:gridCol>
              </a:tblGrid>
              <a:tr h="611036">
                <a:tc>
                  <a:txBody>
                    <a:bodyPr/>
                    <a:lstStyle/>
                    <a:p>
                      <a:pPr algn="l"/>
                      <a:r>
                        <a:rPr lang="en-US" dirty="0">
                          <a:solidFill>
                            <a:schemeClr val="tx1"/>
                          </a:solidFill>
                          <a:latin typeface="Times New Roman" panose="02020603050405020304" pitchFamily="18" charset="0"/>
                          <a:cs typeface="Times New Roman" panose="02020603050405020304" pitchFamily="18" charset="0"/>
                        </a:rPr>
                        <a:t>                                          </a:t>
                      </a:r>
                    </a:p>
                    <a:p>
                      <a:pPr algn="l"/>
                      <a:r>
                        <a:rPr lang="en-US" sz="1800" dirty="0">
                          <a:solidFill>
                            <a:schemeClr val="tx1"/>
                          </a:solidFill>
                          <a:latin typeface="Times New Roman" panose="02020603050405020304" pitchFamily="18" charset="0"/>
                          <a:cs typeface="Times New Roman" panose="02020603050405020304" pitchFamily="18" charset="0"/>
                        </a:rPr>
                        <a:t>                                                       Parameter </a:t>
                      </a:r>
                    </a:p>
                  </a:txBody>
                  <a:tcPr/>
                </a:tc>
                <a:tc>
                  <a:txBody>
                    <a:bodyPr/>
                    <a:lstStyle/>
                    <a:p>
                      <a:pPr algn="l"/>
                      <a:endParaRPr lang="en-US" dirty="0">
                        <a:solidFill>
                          <a:schemeClr val="tx1"/>
                        </a:solidFill>
                        <a:latin typeface="Times New Roman" panose="02020603050405020304" pitchFamily="18" charset="0"/>
                        <a:cs typeface="Times New Roman" panose="02020603050405020304" pitchFamily="18" charset="0"/>
                      </a:endParaRPr>
                    </a:p>
                    <a:p>
                      <a:pPr algn="l"/>
                      <a:r>
                        <a:rPr lang="en-US" dirty="0">
                          <a:solidFill>
                            <a:schemeClr val="tx1"/>
                          </a:solidFill>
                          <a:latin typeface="Times New Roman" panose="02020603050405020304" pitchFamily="18" charset="0"/>
                          <a:cs typeface="Times New Roman" panose="02020603050405020304" pitchFamily="18" charset="0"/>
                        </a:rPr>
                        <a:t>                                Value</a:t>
                      </a:r>
                    </a:p>
                  </a:txBody>
                  <a:tcPr/>
                </a:tc>
                <a:extLst>
                  <a:ext uri="{0D108BD9-81ED-4DB2-BD59-A6C34878D82A}">
                    <a16:rowId xmlns:a16="http://schemas.microsoft.com/office/drawing/2014/main" val="3949249260"/>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Frequency</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60.75 GHz</a:t>
                      </a:r>
                    </a:p>
                  </a:txBody>
                  <a:tcPr/>
                </a:tc>
                <a:extLst>
                  <a:ext uri="{0D108BD9-81ED-4DB2-BD59-A6C34878D82A}">
                    <a16:rowId xmlns:a16="http://schemas.microsoft.com/office/drawing/2014/main" val="2823958503"/>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Bandwidth</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1.47755 GHz</a:t>
                      </a:r>
                    </a:p>
                  </a:txBody>
                  <a:tcPr/>
                </a:tc>
                <a:extLst>
                  <a:ext uri="{0D108BD9-81ED-4DB2-BD59-A6C34878D82A}">
                    <a16:rowId xmlns:a16="http://schemas.microsoft.com/office/drawing/2014/main" val="2151258725"/>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Chirp Duration</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55 us</a:t>
                      </a:r>
                    </a:p>
                  </a:txBody>
                  <a:tcPr/>
                </a:tc>
                <a:extLst>
                  <a:ext uri="{0D108BD9-81ED-4DB2-BD59-A6C34878D82A}">
                    <a16:rowId xmlns:a16="http://schemas.microsoft.com/office/drawing/2014/main" val="2273326259"/>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Frame Rate</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18.18 Hz</a:t>
                      </a:r>
                    </a:p>
                  </a:txBody>
                  <a:tcPr/>
                </a:tc>
                <a:extLst>
                  <a:ext uri="{0D108BD9-81ED-4DB2-BD59-A6C34878D82A}">
                    <a16:rowId xmlns:a16="http://schemas.microsoft.com/office/drawing/2014/main" val="3360595658"/>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Field of 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         </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70° (Azimuth), 20° (Elevation) </a:t>
                      </a:r>
                    </a:p>
                  </a:txBody>
                  <a:tcPr/>
                </a:tc>
                <a:extLst>
                  <a:ext uri="{0D108BD9-81ED-4DB2-BD59-A6C34878D82A}">
                    <a16:rowId xmlns:a16="http://schemas.microsoft.com/office/drawing/2014/main" val="3529976600"/>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Number of Antennas</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3 (TX), 4(RX)</a:t>
                      </a:r>
                    </a:p>
                  </a:txBody>
                  <a:tcPr/>
                </a:tc>
                <a:extLst>
                  <a:ext uri="{0D108BD9-81ED-4DB2-BD59-A6C34878D82A}">
                    <a16:rowId xmlns:a16="http://schemas.microsoft.com/office/drawing/2014/main" val="1549275866"/>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Range Regulation</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10.1 cm</a:t>
                      </a:r>
                    </a:p>
                  </a:txBody>
                  <a:tcPr/>
                </a:tc>
                <a:extLst>
                  <a:ext uri="{0D108BD9-81ED-4DB2-BD59-A6C34878D82A}">
                    <a16:rowId xmlns:a16="http://schemas.microsoft.com/office/drawing/2014/main" val="499818405"/>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Unambiguous Range</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7.49  m</a:t>
                      </a:r>
                    </a:p>
                  </a:txBody>
                  <a:tcPr/>
                </a:tc>
                <a:extLst>
                  <a:ext uri="{0D108BD9-81ED-4DB2-BD59-A6C34878D82A}">
                    <a16:rowId xmlns:a16="http://schemas.microsoft.com/office/drawing/2014/main" val="1289300659"/>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Doppler Resolution</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0.47 m/s</a:t>
                      </a:r>
                    </a:p>
                  </a:txBody>
                  <a:tcPr/>
                </a:tc>
                <a:extLst>
                  <a:ext uri="{0D108BD9-81ED-4DB2-BD59-A6C34878D82A}">
                    <a16:rowId xmlns:a16="http://schemas.microsoft.com/office/drawing/2014/main" val="2513481668"/>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Unambiguous Doppler Velocity</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±22.5 m/s</a:t>
                      </a:r>
                    </a:p>
                  </a:txBody>
                  <a:tcPr/>
                </a:tc>
                <a:extLst>
                  <a:ext uri="{0D108BD9-81ED-4DB2-BD59-A6C34878D82A}">
                    <a16:rowId xmlns:a16="http://schemas.microsoft.com/office/drawing/2014/main" val="2135453488"/>
                  </a:ext>
                </a:extLst>
              </a:tr>
              <a:tr h="349163">
                <a:tc>
                  <a:txBody>
                    <a:bodyPr/>
                    <a:lstStyle/>
                    <a:p>
                      <a:pPr algn="l"/>
                      <a:r>
                        <a:rPr lang="en-US" dirty="0">
                          <a:solidFill>
                            <a:schemeClr val="tx1"/>
                          </a:solidFill>
                          <a:latin typeface="Times New Roman" panose="02020603050405020304" pitchFamily="18" charset="0"/>
                          <a:cs typeface="Times New Roman" panose="02020603050405020304" pitchFamily="18" charset="0"/>
                        </a:rPr>
                        <a:t>                                      ADC Sampling Frequency</a:t>
                      </a:r>
                    </a:p>
                  </a:txBody>
                  <a:tcPr/>
                </a:tc>
                <a:tc>
                  <a:txBody>
                    <a:bodyPr/>
                    <a:lstStyle/>
                    <a:p>
                      <a:pPr algn="l"/>
                      <a:r>
                        <a:rPr lang="en-US" dirty="0">
                          <a:solidFill>
                            <a:schemeClr val="tx1"/>
                          </a:solidFill>
                          <a:latin typeface="Times New Roman" panose="02020603050405020304" pitchFamily="18" charset="0"/>
                          <a:cs typeface="Times New Roman" panose="02020603050405020304" pitchFamily="18" charset="0"/>
                        </a:rPr>
                        <a:t>                         2.95MHz</a:t>
                      </a:r>
                    </a:p>
                  </a:txBody>
                  <a:tcPr/>
                </a:tc>
                <a:extLst>
                  <a:ext uri="{0D108BD9-81ED-4DB2-BD59-A6C34878D82A}">
                    <a16:rowId xmlns:a16="http://schemas.microsoft.com/office/drawing/2014/main" val="3458878543"/>
                  </a:ext>
                </a:extLst>
              </a:tr>
            </a:tbl>
          </a:graphicData>
        </a:graphic>
      </p:graphicFrame>
      <p:sp>
        <p:nvSpPr>
          <p:cNvPr id="4" name="Slide Number Placeholder 3">
            <a:extLst>
              <a:ext uri="{FF2B5EF4-FFF2-40B4-BE49-F238E27FC236}">
                <a16:creationId xmlns:a16="http://schemas.microsoft.com/office/drawing/2014/main" id="{54C33532-BA56-BE6A-E606-4A43278D8938}"/>
              </a:ext>
            </a:extLst>
          </p:cNvPr>
          <p:cNvSpPr>
            <a:spLocks noGrp="1"/>
          </p:cNvSpPr>
          <p:nvPr>
            <p:ph type="sldNum" sz="quarter" idx="12"/>
          </p:nvPr>
        </p:nvSpPr>
        <p:spPr/>
        <p:txBody>
          <a:bodyPr/>
          <a:lstStyle/>
          <a:p>
            <a:fld id="{C45F31B8-6562-4A36-A35A-9CD554BAFD2A}" type="slidenum">
              <a:rPr lang="en-US" smtClean="0"/>
              <a:t>13</a:t>
            </a:fld>
            <a:endParaRPr lang="en-US"/>
          </a:p>
        </p:txBody>
      </p:sp>
    </p:spTree>
    <p:extLst>
      <p:ext uri="{BB962C8B-B14F-4D97-AF65-F5344CB8AC3E}">
        <p14:creationId xmlns:p14="http://schemas.microsoft.com/office/powerpoint/2010/main" val="1093875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EC6320-385D-E5C7-427B-6BB38292BC88}"/>
              </a:ext>
            </a:extLst>
          </p:cNvPr>
          <p:cNvSpPr>
            <a:spLocks noGrp="1"/>
          </p:cNvSpPr>
          <p:nvPr>
            <p:ph type="sldNum" sz="quarter" idx="12"/>
          </p:nvPr>
        </p:nvSpPr>
        <p:spPr/>
        <p:txBody>
          <a:bodyPr/>
          <a:lstStyle/>
          <a:p>
            <a:fld id="{C45F31B8-6562-4A36-A35A-9CD554BAFD2A}" type="slidenum">
              <a:rPr lang="en-US" smtClean="0"/>
              <a:t>14</a:t>
            </a:fld>
            <a:endParaRPr lang="en-US"/>
          </a:p>
        </p:txBody>
      </p:sp>
      <p:sp>
        <p:nvSpPr>
          <p:cNvPr id="28" name="TextBox 27">
            <a:extLst>
              <a:ext uri="{FF2B5EF4-FFF2-40B4-BE49-F238E27FC236}">
                <a16:creationId xmlns:a16="http://schemas.microsoft.com/office/drawing/2014/main" id="{6811464A-B4E4-31B1-A211-47B79C84B25A}"/>
              </a:ext>
            </a:extLst>
          </p:cNvPr>
          <p:cNvSpPr txBox="1"/>
          <p:nvPr/>
        </p:nvSpPr>
        <p:spPr>
          <a:xfrm>
            <a:off x="393540" y="1570619"/>
            <a:ext cx="1932972" cy="1631216"/>
          </a:xfrm>
          <a:prstGeom prst="rect">
            <a:avLst/>
          </a:prstGeom>
          <a:noFill/>
          <a:ln>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IWR6843ISK mounted with Tripod at 2 m High and </a:t>
            </a:r>
            <a:r>
              <a:rPr lang="en-US" sz="2000" dirty="0">
                <a:solidFill>
                  <a:schemeClr val="dk1"/>
                </a:solidFill>
                <a:latin typeface="Times New Roman" panose="02020603050405020304" pitchFamily="18" charset="0"/>
                <a:cs typeface="Times New Roman" panose="02020603050405020304" pitchFamily="18" charset="0"/>
              </a:rPr>
              <a:t>15° down-tilt</a:t>
            </a:r>
            <a:endParaRPr lang="en-US" sz="20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21CF3174-BE07-4E76-2C5C-4DE4F2F4A91F}"/>
              </a:ext>
            </a:extLst>
          </p:cNvPr>
          <p:cNvSpPr txBox="1"/>
          <p:nvPr/>
        </p:nvSpPr>
        <p:spPr>
          <a:xfrm>
            <a:off x="44558" y="3929708"/>
            <a:ext cx="2630935" cy="707886"/>
          </a:xfrm>
          <a:prstGeom prst="rect">
            <a:avLst/>
          </a:prstGeom>
          <a:noFill/>
          <a:ln>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IWR6843ISK Operates with 5V DC and 3A</a:t>
            </a:r>
          </a:p>
        </p:txBody>
      </p:sp>
      <p:sp>
        <p:nvSpPr>
          <p:cNvPr id="35" name="TextBox 34">
            <a:extLst>
              <a:ext uri="{FF2B5EF4-FFF2-40B4-BE49-F238E27FC236}">
                <a16:creationId xmlns:a16="http://schemas.microsoft.com/office/drawing/2014/main" id="{6D3D22A7-5180-C597-1404-48A1D3AFAC69}"/>
              </a:ext>
            </a:extLst>
          </p:cNvPr>
          <p:cNvSpPr txBox="1"/>
          <p:nvPr/>
        </p:nvSpPr>
        <p:spPr>
          <a:xfrm>
            <a:off x="8791719" y="1570619"/>
            <a:ext cx="2313012" cy="1631216"/>
          </a:xfrm>
          <a:prstGeom prst="rect">
            <a:avLst/>
          </a:prstGeom>
          <a:noFill/>
          <a:ln>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Dual UART via Micro USB, Baud rate for CLI @115200 and Data @921600</a:t>
            </a:r>
          </a:p>
        </p:txBody>
      </p:sp>
      <p:sp>
        <p:nvSpPr>
          <p:cNvPr id="34" name="TextBox 33">
            <a:extLst>
              <a:ext uri="{FF2B5EF4-FFF2-40B4-BE49-F238E27FC236}">
                <a16:creationId xmlns:a16="http://schemas.microsoft.com/office/drawing/2014/main" id="{B1F2CAB3-EF86-DDB8-AC7A-957BDCF7A285}"/>
              </a:ext>
            </a:extLst>
          </p:cNvPr>
          <p:cNvSpPr txBox="1"/>
          <p:nvPr/>
        </p:nvSpPr>
        <p:spPr>
          <a:xfrm>
            <a:off x="8791719" y="4094778"/>
            <a:ext cx="2017326" cy="400110"/>
          </a:xfrm>
          <a:prstGeom prst="rect">
            <a:avLst/>
          </a:prstGeom>
          <a:noFill/>
          <a:ln>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Data Acquisition</a:t>
            </a:r>
          </a:p>
        </p:txBody>
      </p:sp>
      <p:sp>
        <p:nvSpPr>
          <p:cNvPr id="23" name="TextBox 22">
            <a:extLst>
              <a:ext uri="{FF2B5EF4-FFF2-40B4-BE49-F238E27FC236}">
                <a16:creationId xmlns:a16="http://schemas.microsoft.com/office/drawing/2014/main" id="{C8A239C0-290E-4E1A-90F7-B8F12B412511}"/>
              </a:ext>
            </a:extLst>
          </p:cNvPr>
          <p:cNvSpPr txBox="1"/>
          <p:nvPr/>
        </p:nvSpPr>
        <p:spPr>
          <a:xfrm>
            <a:off x="282787" y="115544"/>
            <a:ext cx="6831996" cy="754053"/>
          </a:xfrm>
          <a:prstGeom prst="rect">
            <a:avLst/>
          </a:prstGeom>
          <a:noFill/>
        </p:spPr>
        <p:txBody>
          <a:bodyPr wrap="square" rtlCol="0">
            <a:spAutoFit/>
          </a:bodyPr>
          <a:lstStyle/>
          <a:p>
            <a:r>
              <a:rPr lang="en-US" sz="4300" b="1" dirty="0">
                <a:latin typeface="Times New Roman" panose="02020603050405020304" pitchFamily="18" charset="0"/>
                <a:cs typeface="Times New Roman" panose="02020603050405020304" pitchFamily="18" charset="0"/>
              </a:rPr>
              <a:t>Experimental Setup</a:t>
            </a:r>
          </a:p>
        </p:txBody>
      </p:sp>
      <p:cxnSp>
        <p:nvCxnSpPr>
          <p:cNvPr id="5" name="Straight Arrow Connector 4">
            <a:extLst>
              <a:ext uri="{FF2B5EF4-FFF2-40B4-BE49-F238E27FC236}">
                <a16:creationId xmlns:a16="http://schemas.microsoft.com/office/drawing/2014/main" id="{B3B0EF10-105F-BFF6-95F8-506EEA9046A9}"/>
              </a:ext>
            </a:extLst>
          </p:cNvPr>
          <p:cNvCxnSpPr>
            <a:cxnSpLocks/>
            <a:endCxn id="35" idx="1"/>
          </p:cNvCxnSpPr>
          <p:nvPr/>
        </p:nvCxnSpPr>
        <p:spPr>
          <a:xfrm flipV="1">
            <a:off x="6424836" y="2386227"/>
            <a:ext cx="2366883" cy="125405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77F12316-DBBD-80D0-A35C-6228BC465EFB}"/>
              </a:ext>
            </a:extLst>
          </p:cNvPr>
          <p:cNvCxnSpPr>
            <a:cxnSpLocks/>
          </p:cNvCxnSpPr>
          <p:nvPr/>
        </p:nvCxnSpPr>
        <p:spPr>
          <a:xfrm>
            <a:off x="7781138" y="4083596"/>
            <a:ext cx="1047426" cy="4001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2" name="Picture 31">
            <a:extLst>
              <a:ext uri="{FF2B5EF4-FFF2-40B4-BE49-F238E27FC236}">
                <a16:creationId xmlns:a16="http://schemas.microsoft.com/office/drawing/2014/main" id="{BACDD38D-E745-A004-EA88-97602B7ADEE1}"/>
              </a:ext>
            </a:extLst>
          </p:cNvPr>
          <p:cNvPicPr>
            <a:picLocks noChangeAspect="1"/>
          </p:cNvPicPr>
          <p:nvPr/>
        </p:nvPicPr>
        <p:blipFill>
          <a:blip r:embed="rId2"/>
          <a:srcRect r="38323"/>
          <a:stretch>
            <a:fillRect/>
          </a:stretch>
        </p:blipFill>
        <p:spPr>
          <a:xfrm>
            <a:off x="3135090" y="1555026"/>
            <a:ext cx="5197031" cy="3747948"/>
          </a:xfrm>
          <a:prstGeom prst="rect">
            <a:avLst/>
          </a:prstGeom>
        </p:spPr>
      </p:pic>
      <p:cxnSp>
        <p:nvCxnSpPr>
          <p:cNvPr id="7" name="Straight Arrow Connector 6">
            <a:extLst>
              <a:ext uri="{FF2B5EF4-FFF2-40B4-BE49-F238E27FC236}">
                <a16:creationId xmlns:a16="http://schemas.microsoft.com/office/drawing/2014/main" id="{5543B2D0-B7EF-BF36-FE9D-C94E3D011624}"/>
              </a:ext>
            </a:extLst>
          </p:cNvPr>
          <p:cNvCxnSpPr>
            <a:cxnSpLocks/>
            <a:endCxn id="28" idx="3"/>
          </p:cNvCxnSpPr>
          <p:nvPr/>
        </p:nvCxnSpPr>
        <p:spPr>
          <a:xfrm flipH="1" flipV="1">
            <a:off x="2326512" y="2386227"/>
            <a:ext cx="1919811" cy="3694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3CB14FA8-EACC-7C16-2336-4443710E9D9E}"/>
              </a:ext>
            </a:extLst>
          </p:cNvPr>
          <p:cNvCxnSpPr>
            <a:cxnSpLocks/>
            <a:endCxn id="36" idx="3"/>
          </p:cNvCxnSpPr>
          <p:nvPr/>
        </p:nvCxnSpPr>
        <p:spPr>
          <a:xfrm flipH="1">
            <a:off x="2675493" y="3013256"/>
            <a:ext cx="1570830" cy="12703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2513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999"/>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99"/>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99"/>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99"/>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99"/>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6" grpId="0" animBg="1"/>
      <p:bldP spid="35" grpId="0" animBg="1"/>
      <p:bldP spid="34" grpId="0" animBg="1"/>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93EC-BB31-ABF5-3CCE-B13C9319A1CA}"/>
              </a:ext>
            </a:extLst>
          </p:cNvPr>
          <p:cNvSpPr>
            <a:spLocks noGrp="1"/>
          </p:cNvSpPr>
          <p:nvPr>
            <p:ph type="title"/>
          </p:nvPr>
        </p:nvSpPr>
        <p:spPr>
          <a:xfrm>
            <a:off x="379956" y="143804"/>
            <a:ext cx="10515600" cy="606734"/>
          </a:xfrm>
        </p:spPr>
        <p:txBody>
          <a:bodyPr/>
          <a:lstStyle/>
          <a:p>
            <a:r>
              <a:rPr lang="en-US" sz="4200" dirty="0">
                <a:latin typeface="Times New Roman" panose="02020603050405020304" pitchFamily="18" charset="0"/>
                <a:cs typeface="Times New Roman" panose="02020603050405020304" pitchFamily="18" charset="0"/>
              </a:rPr>
              <a:t>Raw Data Structure</a:t>
            </a:r>
          </a:p>
        </p:txBody>
      </p:sp>
      <p:sp>
        <p:nvSpPr>
          <p:cNvPr id="5" name="Rectangle 4">
            <a:extLst>
              <a:ext uri="{FF2B5EF4-FFF2-40B4-BE49-F238E27FC236}">
                <a16:creationId xmlns:a16="http://schemas.microsoft.com/office/drawing/2014/main" id="{66A650F0-0E22-55BD-27D4-F9B86211A777}"/>
              </a:ext>
            </a:extLst>
          </p:cNvPr>
          <p:cNvSpPr/>
          <p:nvPr/>
        </p:nvSpPr>
        <p:spPr>
          <a:xfrm>
            <a:off x="880110" y="1343571"/>
            <a:ext cx="3383280" cy="99037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Frame Header</a:t>
            </a:r>
          </a:p>
          <a:p>
            <a:pPr algn="ctr"/>
            <a:r>
              <a:rPr lang="en-US" dirty="0"/>
              <a:t>(40 Bytes)</a:t>
            </a:r>
          </a:p>
        </p:txBody>
      </p:sp>
      <p:sp>
        <p:nvSpPr>
          <p:cNvPr id="6" name="TextBox 5">
            <a:extLst>
              <a:ext uri="{FF2B5EF4-FFF2-40B4-BE49-F238E27FC236}">
                <a16:creationId xmlns:a16="http://schemas.microsoft.com/office/drawing/2014/main" id="{4151E2E3-14B6-65D8-BBC4-46061A989AA5}"/>
              </a:ext>
            </a:extLst>
          </p:cNvPr>
          <p:cNvSpPr txBox="1"/>
          <p:nvPr/>
        </p:nvSpPr>
        <p:spPr>
          <a:xfrm>
            <a:off x="5097223" y="3476421"/>
            <a:ext cx="2948933" cy="2308324"/>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our exp parsed TLV 1000 is </a:t>
            </a:r>
            <a:r>
              <a:rPr lang="en-US" dirty="0" err="1">
                <a:latin typeface="Times New Roman" panose="02020603050405020304" pitchFamily="18" charset="0"/>
                <a:cs typeface="Times New Roman" panose="02020603050405020304" pitchFamily="18" charset="0"/>
              </a:rPr>
              <a:t>PointCloud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gave us object spatial position (x, y, z), doppler and SNR data</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DFF40FA-C9ED-96C9-B1B0-62E8F409660C}"/>
              </a:ext>
            </a:extLst>
          </p:cNvPr>
          <p:cNvSpPr txBox="1"/>
          <p:nvPr/>
        </p:nvSpPr>
        <p:spPr>
          <a:xfrm>
            <a:off x="880110" y="4428400"/>
            <a:ext cx="2583180"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Got Data as Jason format. Header gave us sequential </a:t>
            </a:r>
            <a:r>
              <a:rPr lang="en-US" dirty="0" err="1">
                <a:latin typeface="Times New Roman" panose="02020603050405020304" pitchFamily="18" charset="0"/>
                <a:cs typeface="Times New Roman" panose="02020603050405020304" pitchFamily="18" charset="0"/>
              </a:rPr>
              <a:t>frameNum</a:t>
            </a:r>
            <a:r>
              <a:rPr lang="en-US" dirty="0">
                <a:latin typeface="Times New Roman" panose="02020603050405020304" pitchFamily="18" charset="0"/>
                <a:cs typeface="Times New Roman" panose="02020603050405020304" pitchFamily="18" charset="0"/>
              </a:rPr>
              <a:t> and timestamp</a:t>
            </a:r>
          </a:p>
        </p:txBody>
      </p:sp>
      <p:cxnSp>
        <p:nvCxnSpPr>
          <p:cNvPr id="30" name="Straight Connector 29">
            <a:extLst>
              <a:ext uri="{FF2B5EF4-FFF2-40B4-BE49-F238E27FC236}">
                <a16:creationId xmlns:a16="http://schemas.microsoft.com/office/drawing/2014/main" id="{822E3A9A-E1F3-8E35-E076-B555CCAFB517}"/>
              </a:ext>
            </a:extLst>
          </p:cNvPr>
          <p:cNvCxnSpPr>
            <a:cxnSpLocks/>
          </p:cNvCxnSpPr>
          <p:nvPr/>
        </p:nvCxnSpPr>
        <p:spPr>
          <a:xfrm>
            <a:off x="285750" y="2011680"/>
            <a:ext cx="0" cy="2811780"/>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5F668768-EE0A-F713-ADF6-2F07CC77C470}"/>
              </a:ext>
            </a:extLst>
          </p:cNvPr>
          <p:cNvCxnSpPr>
            <a:cxnSpLocks/>
          </p:cNvCxnSpPr>
          <p:nvPr/>
        </p:nvCxnSpPr>
        <p:spPr>
          <a:xfrm>
            <a:off x="285750" y="3324021"/>
            <a:ext cx="422910" cy="0"/>
          </a:xfrm>
          <a:prstGeom prst="straightConnector1">
            <a:avLst/>
          </a:prstGeom>
          <a:ln>
            <a:solidFill>
              <a:schemeClr val="tx1"/>
            </a:solidFill>
            <a:tailEnd type="triangle"/>
          </a:ln>
        </p:spPr>
        <p:style>
          <a:lnRef idx="2">
            <a:schemeClr val="accent6"/>
          </a:lnRef>
          <a:fillRef idx="1">
            <a:schemeClr val="lt1"/>
          </a:fillRef>
          <a:effectRef idx="0">
            <a:schemeClr val="accent6"/>
          </a:effectRef>
          <a:fontRef idx="minor">
            <a:schemeClr val="dk1"/>
          </a:fontRef>
        </p:style>
      </p:cxnSp>
      <p:cxnSp>
        <p:nvCxnSpPr>
          <p:cNvPr id="35" name="Straight Arrow Connector 34">
            <a:extLst>
              <a:ext uri="{FF2B5EF4-FFF2-40B4-BE49-F238E27FC236}">
                <a16:creationId xmlns:a16="http://schemas.microsoft.com/office/drawing/2014/main" id="{D2E12C8F-1814-4ADA-44C6-37E409DF9D6A}"/>
              </a:ext>
            </a:extLst>
          </p:cNvPr>
          <p:cNvCxnSpPr>
            <a:cxnSpLocks/>
          </p:cNvCxnSpPr>
          <p:nvPr/>
        </p:nvCxnSpPr>
        <p:spPr>
          <a:xfrm>
            <a:off x="285750" y="4812030"/>
            <a:ext cx="571500" cy="0"/>
          </a:xfrm>
          <a:prstGeom prst="straightConnector1">
            <a:avLst/>
          </a:prstGeom>
          <a:ln>
            <a:solidFill>
              <a:schemeClr val="tx1"/>
            </a:solidFill>
            <a:tailEnd type="triangle"/>
          </a:ln>
        </p:spPr>
        <p:style>
          <a:lnRef idx="2">
            <a:schemeClr val="accent6"/>
          </a:lnRef>
          <a:fillRef idx="1">
            <a:schemeClr val="lt1"/>
          </a:fillRef>
          <a:effectRef idx="0">
            <a:schemeClr val="accent6"/>
          </a:effectRef>
          <a:fontRef idx="minor">
            <a:schemeClr val="dk1"/>
          </a:fontRef>
        </p:style>
      </p:cxnSp>
      <p:cxnSp>
        <p:nvCxnSpPr>
          <p:cNvPr id="39" name="Straight Connector 38">
            <a:extLst>
              <a:ext uri="{FF2B5EF4-FFF2-40B4-BE49-F238E27FC236}">
                <a16:creationId xmlns:a16="http://schemas.microsoft.com/office/drawing/2014/main" id="{B73E3631-9688-0547-6DB4-5AAF5F9EE085}"/>
              </a:ext>
            </a:extLst>
          </p:cNvPr>
          <p:cNvCxnSpPr>
            <a:cxnSpLocks/>
          </p:cNvCxnSpPr>
          <p:nvPr/>
        </p:nvCxnSpPr>
        <p:spPr>
          <a:xfrm>
            <a:off x="285750" y="2011680"/>
            <a:ext cx="594360" cy="0"/>
          </a:xfrm>
          <a:prstGeom prst="line">
            <a:avLst/>
          </a:prstGeom>
          <a:ln>
            <a:solidFill>
              <a:schemeClr val="tx1"/>
            </a:solidFill>
          </a:ln>
        </p:spPr>
        <p:style>
          <a:lnRef idx="2">
            <a:schemeClr val="accent6"/>
          </a:lnRef>
          <a:fillRef idx="1">
            <a:schemeClr val="lt1"/>
          </a:fillRef>
          <a:effectRef idx="0">
            <a:schemeClr val="accent6"/>
          </a:effectRef>
          <a:fontRef idx="minor">
            <a:schemeClr val="dk1"/>
          </a:fontRef>
        </p:style>
      </p:cxnSp>
      <p:sp>
        <p:nvSpPr>
          <p:cNvPr id="42" name="Rectangle 41">
            <a:extLst>
              <a:ext uri="{FF2B5EF4-FFF2-40B4-BE49-F238E27FC236}">
                <a16:creationId xmlns:a16="http://schemas.microsoft.com/office/drawing/2014/main" id="{49D39B6C-2D06-2CAE-5E32-CD29C636B4B8}"/>
              </a:ext>
            </a:extLst>
          </p:cNvPr>
          <p:cNvSpPr/>
          <p:nvPr/>
        </p:nvSpPr>
        <p:spPr>
          <a:xfrm>
            <a:off x="5074922" y="1286014"/>
            <a:ext cx="1623057" cy="55274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TLV1</a:t>
            </a:r>
          </a:p>
        </p:txBody>
      </p:sp>
      <p:sp>
        <p:nvSpPr>
          <p:cNvPr id="43" name="Rectangle 42">
            <a:extLst>
              <a:ext uri="{FF2B5EF4-FFF2-40B4-BE49-F238E27FC236}">
                <a16:creationId xmlns:a16="http://schemas.microsoft.com/office/drawing/2014/main" id="{50D59943-0FE4-E5AA-8BE5-7A11D947D48E}"/>
              </a:ext>
            </a:extLst>
          </p:cNvPr>
          <p:cNvSpPr/>
          <p:nvPr/>
        </p:nvSpPr>
        <p:spPr>
          <a:xfrm>
            <a:off x="5074922" y="1852488"/>
            <a:ext cx="1623057" cy="54378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Point Cloud</a:t>
            </a:r>
          </a:p>
        </p:txBody>
      </p:sp>
      <p:sp>
        <p:nvSpPr>
          <p:cNvPr id="44" name="TextBox 43">
            <a:extLst>
              <a:ext uri="{FF2B5EF4-FFF2-40B4-BE49-F238E27FC236}">
                <a16:creationId xmlns:a16="http://schemas.microsoft.com/office/drawing/2014/main" id="{B3CCE333-3B5F-E5A3-3618-7BDC5BB1FBF7}"/>
              </a:ext>
            </a:extLst>
          </p:cNvPr>
          <p:cNvSpPr txBox="1"/>
          <p:nvPr/>
        </p:nvSpPr>
        <p:spPr>
          <a:xfrm>
            <a:off x="1032509" y="2876257"/>
            <a:ext cx="2430777"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Helps to identify correct TLV payload to parse data</a:t>
            </a:r>
          </a:p>
        </p:txBody>
      </p:sp>
      <p:sp>
        <p:nvSpPr>
          <p:cNvPr id="45" name="Rectangle 44">
            <a:extLst>
              <a:ext uri="{FF2B5EF4-FFF2-40B4-BE49-F238E27FC236}">
                <a16:creationId xmlns:a16="http://schemas.microsoft.com/office/drawing/2014/main" id="{6BED6D31-8513-1D4C-3DB0-33784557D5EA}"/>
              </a:ext>
            </a:extLst>
          </p:cNvPr>
          <p:cNvSpPr/>
          <p:nvPr/>
        </p:nvSpPr>
        <p:spPr>
          <a:xfrm>
            <a:off x="7021832" y="1286013"/>
            <a:ext cx="1623057" cy="55274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TLV2</a:t>
            </a:r>
          </a:p>
          <a:p>
            <a:pPr algn="ctr"/>
            <a:endParaRPr lang="en-US" dirty="0"/>
          </a:p>
        </p:txBody>
      </p:sp>
      <p:sp>
        <p:nvSpPr>
          <p:cNvPr id="46" name="Rectangle 45">
            <a:extLst>
              <a:ext uri="{FF2B5EF4-FFF2-40B4-BE49-F238E27FC236}">
                <a16:creationId xmlns:a16="http://schemas.microsoft.com/office/drawing/2014/main" id="{B96446F1-04FF-D830-1573-C89AE36E6B24}"/>
              </a:ext>
            </a:extLst>
          </p:cNvPr>
          <p:cNvSpPr/>
          <p:nvPr/>
        </p:nvSpPr>
        <p:spPr>
          <a:xfrm>
            <a:off x="7021831" y="1843532"/>
            <a:ext cx="1623057" cy="55274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Target List</a:t>
            </a:r>
          </a:p>
        </p:txBody>
      </p:sp>
      <p:sp>
        <p:nvSpPr>
          <p:cNvPr id="47" name="Rectangle 46">
            <a:extLst>
              <a:ext uri="{FF2B5EF4-FFF2-40B4-BE49-F238E27FC236}">
                <a16:creationId xmlns:a16="http://schemas.microsoft.com/office/drawing/2014/main" id="{C3318219-ADDC-5883-E58F-3D93BEBA3649}"/>
              </a:ext>
            </a:extLst>
          </p:cNvPr>
          <p:cNvSpPr/>
          <p:nvPr/>
        </p:nvSpPr>
        <p:spPr>
          <a:xfrm>
            <a:off x="10039353" y="1821750"/>
            <a:ext cx="1623057" cy="55274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Associated Points</a:t>
            </a:r>
          </a:p>
        </p:txBody>
      </p:sp>
      <p:sp>
        <p:nvSpPr>
          <p:cNvPr id="48" name="Rectangle 47">
            <a:extLst>
              <a:ext uri="{FF2B5EF4-FFF2-40B4-BE49-F238E27FC236}">
                <a16:creationId xmlns:a16="http://schemas.microsoft.com/office/drawing/2014/main" id="{11CE5BBB-AB98-4A13-4C6C-356FA1E0F374}"/>
              </a:ext>
            </a:extLst>
          </p:cNvPr>
          <p:cNvSpPr/>
          <p:nvPr/>
        </p:nvSpPr>
        <p:spPr>
          <a:xfrm>
            <a:off x="10039354" y="1280437"/>
            <a:ext cx="1623057" cy="55274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endParaRPr lang="en-US" dirty="0"/>
          </a:p>
          <a:p>
            <a:pPr algn="ctr"/>
            <a:r>
              <a:rPr lang="en-US" dirty="0"/>
              <a:t>TLV2</a:t>
            </a:r>
          </a:p>
          <a:p>
            <a:pPr algn="ctr"/>
            <a:endParaRPr lang="en-US" dirty="0"/>
          </a:p>
          <a:p>
            <a:pPr algn="ctr"/>
            <a:endParaRPr lang="en-US" dirty="0"/>
          </a:p>
        </p:txBody>
      </p:sp>
      <p:sp>
        <p:nvSpPr>
          <p:cNvPr id="49" name="TextBox 48">
            <a:extLst>
              <a:ext uri="{FF2B5EF4-FFF2-40B4-BE49-F238E27FC236}">
                <a16:creationId xmlns:a16="http://schemas.microsoft.com/office/drawing/2014/main" id="{B588D438-0E15-E8C8-7540-E04D916BC971}"/>
              </a:ext>
            </a:extLst>
          </p:cNvPr>
          <p:cNvSpPr txBox="1"/>
          <p:nvPr/>
        </p:nvSpPr>
        <p:spPr>
          <a:xfrm>
            <a:off x="8755380" y="1493782"/>
            <a:ext cx="1135386" cy="646331"/>
          </a:xfrm>
          <a:prstGeom prst="rect">
            <a:avLst/>
          </a:prstGeom>
          <a:noFill/>
        </p:spPr>
        <p:txBody>
          <a:bodyPr wrap="square" rtlCol="0">
            <a:spAutoFit/>
          </a:bodyPr>
          <a:lstStyle/>
          <a:p>
            <a:endParaRPr lang="en-US" dirty="0"/>
          </a:p>
          <a:p>
            <a:r>
              <a:rPr lang="en-US" dirty="0"/>
              <a:t>------------</a:t>
            </a:r>
          </a:p>
        </p:txBody>
      </p:sp>
      <p:cxnSp>
        <p:nvCxnSpPr>
          <p:cNvPr id="52" name="Straight Connector 51">
            <a:extLst>
              <a:ext uri="{FF2B5EF4-FFF2-40B4-BE49-F238E27FC236}">
                <a16:creationId xmlns:a16="http://schemas.microsoft.com/office/drawing/2014/main" id="{673973BD-367E-1A96-0766-9B36D24DD1C6}"/>
              </a:ext>
            </a:extLst>
          </p:cNvPr>
          <p:cNvCxnSpPr/>
          <p:nvPr/>
        </p:nvCxnSpPr>
        <p:spPr>
          <a:xfrm>
            <a:off x="5615941" y="2864827"/>
            <a:ext cx="5234940" cy="0"/>
          </a:xfrm>
          <a:prstGeom prst="line">
            <a:avLst/>
          </a:prstGeom>
          <a:ln>
            <a:solidFill>
              <a:schemeClr val="tx1"/>
            </a:solidFill>
          </a:ln>
        </p:spPr>
        <p:style>
          <a:lnRef idx="2">
            <a:schemeClr val="accent6"/>
          </a:lnRef>
          <a:fillRef idx="1">
            <a:schemeClr val="lt1"/>
          </a:fillRef>
          <a:effectRef idx="0">
            <a:schemeClr val="accent6"/>
          </a:effectRef>
          <a:fontRef idx="minor">
            <a:schemeClr val="dk1"/>
          </a:fontRef>
        </p:style>
      </p:cxnSp>
      <p:sp>
        <p:nvSpPr>
          <p:cNvPr id="58" name="TextBox 57">
            <a:extLst>
              <a:ext uri="{FF2B5EF4-FFF2-40B4-BE49-F238E27FC236}">
                <a16:creationId xmlns:a16="http://schemas.microsoft.com/office/drawing/2014/main" id="{E62EB6AF-668E-FC1E-2FBF-DDDA070BFED0}"/>
              </a:ext>
            </a:extLst>
          </p:cNvPr>
          <p:cNvSpPr txBox="1"/>
          <p:nvPr/>
        </p:nvSpPr>
        <p:spPr>
          <a:xfrm>
            <a:off x="6358889" y="2944476"/>
            <a:ext cx="2948940" cy="646331"/>
          </a:xfrm>
          <a:prstGeom prst="rect">
            <a:avLst/>
          </a:prstGeom>
          <a:noFill/>
        </p:spPr>
        <p:txBody>
          <a:bodyPr wrap="square">
            <a:spAutoFit/>
          </a:bodyPr>
          <a:lstStyle/>
          <a:p>
            <a:pPr algn="ctr"/>
            <a:r>
              <a:rPr lang="en-US" dirty="0"/>
              <a:t>Variable Number of TLVs</a:t>
            </a:r>
          </a:p>
          <a:p>
            <a:pPr algn="ctr"/>
            <a:endParaRPr lang="en-US" dirty="0"/>
          </a:p>
        </p:txBody>
      </p:sp>
      <p:cxnSp>
        <p:nvCxnSpPr>
          <p:cNvPr id="62" name="Straight Connector 61">
            <a:extLst>
              <a:ext uri="{FF2B5EF4-FFF2-40B4-BE49-F238E27FC236}">
                <a16:creationId xmlns:a16="http://schemas.microsoft.com/office/drawing/2014/main" id="{EEE81233-3FA8-F829-07C2-321F14286E0F}"/>
              </a:ext>
            </a:extLst>
          </p:cNvPr>
          <p:cNvCxnSpPr/>
          <p:nvPr/>
        </p:nvCxnSpPr>
        <p:spPr>
          <a:xfrm flipV="1">
            <a:off x="5615941" y="2480310"/>
            <a:ext cx="0" cy="395947"/>
          </a:xfrm>
          <a:prstGeom prst="line">
            <a:avLst/>
          </a:prstGeom>
          <a:ln>
            <a:solidFill>
              <a:schemeClr val="tx1"/>
            </a:solidFill>
          </a:ln>
        </p:spPr>
        <p:style>
          <a:lnRef idx="2">
            <a:schemeClr val="accent6"/>
          </a:lnRef>
          <a:fillRef idx="1">
            <a:schemeClr val="lt1"/>
          </a:fillRef>
          <a:effectRef idx="0">
            <a:schemeClr val="accent6"/>
          </a:effectRef>
          <a:fontRef idx="minor">
            <a:schemeClr val="dk1"/>
          </a:fontRef>
        </p:style>
      </p:cxnSp>
      <p:cxnSp>
        <p:nvCxnSpPr>
          <p:cNvPr id="63" name="Straight Connector 62">
            <a:extLst>
              <a:ext uri="{FF2B5EF4-FFF2-40B4-BE49-F238E27FC236}">
                <a16:creationId xmlns:a16="http://schemas.microsoft.com/office/drawing/2014/main" id="{7EAEB070-484D-4C19-16EC-D875D8805819}"/>
              </a:ext>
            </a:extLst>
          </p:cNvPr>
          <p:cNvCxnSpPr/>
          <p:nvPr/>
        </p:nvCxnSpPr>
        <p:spPr>
          <a:xfrm flipV="1">
            <a:off x="10850881" y="2480310"/>
            <a:ext cx="0" cy="395947"/>
          </a:xfrm>
          <a:prstGeom prst="line">
            <a:avLst/>
          </a:prstGeom>
          <a:ln>
            <a:solidFill>
              <a:schemeClr val="tx1"/>
            </a:solidFill>
          </a:ln>
        </p:spPr>
        <p:style>
          <a:lnRef idx="2">
            <a:schemeClr val="accent6"/>
          </a:lnRef>
          <a:fillRef idx="1">
            <a:schemeClr val="lt1"/>
          </a:fillRef>
          <a:effectRef idx="0">
            <a:schemeClr val="accent6"/>
          </a:effectRef>
          <a:fontRef idx="minor">
            <a:schemeClr val="dk1"/>
          </a:fontRef>
        </p:style>
      </p:cxnSp>
      <p:sp>
        <p:nvSpPr>
          <p:cNvPr id="64" name="TextBox 63">
            <a:extLst>
              <a:ext uri="{FF2B5EF4-FFF2-40B4-BE49-F238E27FC236}">
                <a16:creationId xmlns:a16="http://schemas.microsoft.com/office/drawing/2014/main" id="{E523DE11-2392-C4BB-DB58-4CE9C8DF1978}"/>
              </a:ext>
            </a:extLst>
          </p:cNvPr>
          <p:cNvSpPr txBox="1"/>
          <p:nvPr/>
        </p:nvSpPr>
        <p:spPr>
          <a:xfrm>
            <a:off x="8320475" y="3465676"/>
            <a:ext cx="2042162" cy="923330"/>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t>We parsed also TLV 1010 i.e., Target List</a:t>
            </a:r>
          </a:p>
        </p:txBody>
      </p:sp>
      <p:sp>
        <p:nvSpPr>
          <p:cNvPr id="65" name="TextBox 64">
            <a:extLst>
              <a:ext uri="{FF2B5EF4-FFF2-40B4-BE49-F238E27FC236}">
                <a16:creationId xmlns:a16="http://schemas.microsoft.com/office/drawing/2014/main" id="{41405DA3-8124-CB78-E783-5DF33A9302D2}"/>
              </a:ext>
            </a:extLst>
          </p:cNvPr>
          <p:cNvSpPr txBox="1"/>
          <p:nvPr/>
        </p:nvSpPr>
        <p:spPr>
          <a:xfrm>
            <a:off x="8244840" y="4487055"/>
            <a:ext cx="3402333" cy="1477328"/>
          </a:xfrm>
          <a:prstGeom prst="rect">
            <a:avLst/>
          </a:prstGeom>
          <a:noFill/>
          <a:ln>
            <a:solidFill>
              <a:schemeClr val="tx1"/>
            </a:solidFill>
          </a:ln>
        </p:spPr>
        <p:txBody>
          <a:bodyPr wrap="square" rtlCol="0">
            <a:spAutoFit/>
          </a:bodyPr>
          <a:lstStyle/>
          <a:p>
            <a:r>
              <a:rPr lang="en-US" b="1" dirty="0">
                <a:latin typeface="Times New Roman" panose="02020603050405020304" pitchFamily="18" charset="0"/>
                <a:cs typeface="Times New Roman" panose="02020603050405020304" pitchFamily="18" charset="0"/>
              </a:rPr>
              <a:t>Target ID</a:t>
            </a:r>
            <a:r>
              <a:rPr lang="en-US" dirty="0">
                <a:latin typeface="Times New Roman" panose="02020603050405020304" pitchFamily="18" charset="0"/>
                <a:cs typeface="Times New Roman" panose="02020603050405020304" pitchFamily="18" charset="0"/>
              </a:rPr>
              <a:t>, X (m), Y (m), Z (m), </a:t>
            </a:r>
            <a:r>
              <a:rPr lang="en-US" dirty="0" err="1">
                <a:latin typeface="Times New Roman" panose="02020603050405020304" pitchFamily="18" charset="0"/>
                <a:cs typeface="Times New Roman" panose="02020603050405020304" pitchFamily="18" charset="0"/>
              </a:rPr>
              <a:t>X_vel</a:t>
            </a:r>
            <a:r>
              <a:rPr lang="en-US" dirty="0">
                <a:latin typeface="Times New Roman" panose="02020603050405020304" pitchFamily="18" charset="0"/>
                <a:cs typeface="Times New Roman" panose="02020603050405020304" pitchFamily="18" charset="0"/>
              </a:rPr>
              <a:t> (m/s), </a:t>
            </a:r>
            <a:r>
              <a:rPr lang="en-US" dirty="0" err="1">
                <a:latin typeface="Times New Roman" panose="02020603050405020304" pitchFamily="18" charset="0"/>
                <a:cs typeface="Times New Roman" panose="02020603050405020304" pitchFamily="18" charset="0"/>
              </a:rPr>
              <a:t>Y_vel</a:t>
            </a:r>
            <a:r>
              <a:rPr lang="en-US" dirty="0">
                <a:latin typeface="Times New Roman" panose="02020603050405020304" pitchFamily="18" charset="0"/>
                <a:cs typeface="Times New Roman" panose="02020603050405020304" pitchFamily="18" charset="0"/>
              </a:rPr>
              <a:t> (m/s), </a:t>
            </a:r>
            <a:r>
              <a:rPr lang="en-US" dirty="0" err="1">
                <a:latin typeface="Times New Roman" panose="02020603050405020304" pitchFamily="18" charset="0"/>
                <a:cs typeface="Times New Roman" panose="02020603050405020304" pitchFamily="18" charset="0"/>
              </a:rPr>
              <a:t>Z_vel</a:t>
            </a:r>
            <a:r>
              <a:rPr lang="en-US" dirty="0">
                <a:latin typeface="Times New Roman" panose="02020603050405020304" pitchFamily="18" charset="0"/>
                <a:cs typeface="Times New Roman" panose="02020603050405020304" pitchFamily="18" charset="0"/>
              </a:rPr>
              <a:t> (m/s), </a:t>
            </a:r>
            <a:r>
              <a:rPr lang="en-US" dirty="0" err="1">
                <a:latin typeface="Times New Roman" panose="02020603050405020304" pitchFamily="18" charset="0"/>
                <a:cs typeface="Times New Roman" panose="02020603050405020304" pitchFamily="18" charset="0"/>
              </a:rPr>
              <a:t>X_acc</a:t>
            </a:r>
            <a:r>
              <a:rPr lang="en-US" dirty="0">
                <a:latin typeface="Times New Roman" panose="02020603050405020304" pitchFamily="18" charset="0"/>
                <a:cs typeface="Times New Roman" panose="02020603050405020304" pitchFamily="18" charset="0"/>
              </a:rPr>
              <a:t> (m/s²), </a:t>
            </a:r>
            <a:r>
              <a:rPr lang="en-US" dirty="0" err="1">
                <a:latin typeface="Times New Roman" panose="02020603050405020304" pitchFamily="18" charset="0"/>
                <a:cs typeface="Times New Roman" panose="02020603050405020304" pitchFamily="18" charset="0"/>
              </a:rPr>
              <a:t>Y_acc</a:t>
            </a:r>
            <a:r>
              <a:rPr lang="en-US" dirty="0">
                <a:latin typeface="Times New Roman" panose="02020603050405020304" pitchFamily="18" charset="0"/>
                <a:cs typeface="Times New Roman" panose="02020603050405020304" pitchFamily="18" charset="0"/>
              </a:rPr>
              <a:t> (m/s²), </a:t>
            </a:r>
            <a:r>
              <a:rPr lang="en-US" dirty="0" err="1">
                <a:latin typeface="Times New Roman" panose="02020603050405020304" pitchFamily="18" charset="0"/>
                <a:cs typeface="Times New Roman" panose="02020603050405020304" pitchFamily="18" charset="0"/>
              </a:rPr>
              <a:t>Z_acc</a:t>
            </a:r>
            <a:r>
              <a:rPr lang="en-US" dirty="0">
                <a:latin typeface="Times New Roman" panose="02020603050405020304" pitchFamily="18" charset="0"/>
                <a:cs typeface="Times New Roman" panose="02020603050405020304" pitchFamily="18" charset="0"/>
              </a:rPr>
              <a:t> (m/s²), G (tracking state), confidence level]</a:t>
            </a:r>
          </a:p>
        </p:txBody>
      </p:sp>
      <p:sp>
        <p:nvSpPr>
          <p:cNvPr id="66" name="Arrow: Curved Right 65">
            <a:extLst>
              <a:ext uri="{FF2B5EF4-FFF2-40B4-BE49-F238E27FC236}">
                <a16:creationId xmlns:a16="http://schemas.microsoft.com/office/drawing/2014/main" id="{93B69C2E-7F83-BE6A-DD5B-44EEF0D01B59}"/>
              </a:ext>
            </a:extLst>
          </p:cNvPr>
          <p:cNvSpPr/>
          <p:nvPr/>
        </p:nvSpPr>
        <p:spPr>
          <a:xfrm>
            <a:off x="4480561" y="1816947"/>
            <a:ext cx="582928" cy="3315118"/>
          </a:xfrm>
          <a:prstGeom prst="curved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4" name="Slide Number Placeholder 3">
            <a:extLst>
              <a:ext uri="{FF2B5EF4-FFF2-40B4-BE49-F238E27FC236}">
                <a16:creationId xmlns:a16="http://schemas.microsoft.com/office/drawing/2014/main" id="{CAA1F120-A6FB-5317-D764-FE296BE8550F}"/>
              </a:ext>
            </a:extLst>
          </p:cNvPr>
          <p:cNvSpPr>
            <a:spLocks noGrp="1"/>
          </p:cNvSpPr>
          <p:nvPr>
            <p:ph type="sldNum" sz="quarter" idx="12"/>
          </p:nvPr>
        </p:nvSpPr>
        <p:spPr/>
        <p:txBody>
          <a:bodyPr/>
          <a:lstStyle/>
          <a:p>
            <a:fld id="{C45F31B8-6562-4A36-A35A-9CD554BAFD2A}" type="slidenum">
              <a:rPr lang="en-US" smtClean="0"/>
              <a:t>15</a:t>
            </a:fld>
            <a:endParaRPr lang="en-US"/>
          </a:p>
        </p:txBody>
      </p:sp>
      <p:cxnSp>
        <p:nvCxnSpPr>
          <p:cNvPr id="8" name="Straight Connector 7">
            <a:extLst>
              <a:ext uri="{FF2B5EF4-FFF2-40B4-BE49-F238E27FC236}">
                <a16:creationId xmlns:a16="http://schemas.microsoft.com/office/drawing/2014/main" id="{BF81CF4C-16E7-4624-9EB7-C8E38F79D26B}"/>
              </a:ext>
            </a:extLst>
          </p:cNvPr>
          <p:cNvCxnSpPr>
            <a:cxnSpLocks/>
          </p:cNvCxnSpPr>
          <p:nvPr/>
        </p:nvCxnSpPr>
        <p:spPr>
          <a:xfrm>
            <a:off x="285750" y="814192"/>
            <a:ext cx="11526294"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33946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A397-8C9C-C669-B824-CD7BBCF290EE}"/>
              </a:ext>
            </a:extLst>
          </p:cNvPr>
          <p:cNvSpPr>
            <a:spLocks noGrp="1"/>
          </p:cNvSpPr>
          <p:nvPr>
            <p:ph type="title" idx="4294967295"/>
          </p:nvPr>
        </p:nvSpPr>
        <p:spPr>
          <a:xfrm>
            <a:off x="368968" y="160589"/>
            <a:ext cx="10515600" cy="1325563"/>
          </a:xfrm>
          <a:prstGeom prst="rect">
            <a:avLst/>
          </a:prstGeom>
        </p:spPr>
        <p:txBody>
          <a:bodyPr/>
          <a:lstStyle/>
          <a:p>
            <a:r>
              <a:rPr lang="en-US" dirty="0"/>
              <a:t>System Design</a:t>
            </a:r>
          </a:p>
        </p:txBody>
      </p:sp>
      <p:grpSp>
        <p:nvGrpSpPr>
          <p:cNvPr id="33" name="Group 32">
            <a:extLst>
              <a:ext uri="{FF2B5EF4-FFF2-40B4-BE49-F238E27FC236}">
                <a16:creationId xmlns:a16="http://schemas.microsoft.com/office/drawing/2014/main" id="{D6C6773C-91FC-1FFA-DD34-441D0FEBD2CC}"/>
              </a:ext>
            </a:extLst>
          </p:cNvPr>
          <p:cNvGrpSpPr/>
          <p:nvPr/>
        </p:nvGrpSpPr>
        <p:grpSpPr>
          <a:xfrm>
            <a:off x="757373" y="1883767"/>
            <a:ext cx="10891007" cy="2370786"/>
            <a:chOff x="683959" y="3806990"/>
            <a:chExt cx="10412482" cy="1576006"/>
          </a:xfrm>
        </p:grpSpPr>
        <p:sp>
          <p:nvSpPr>
            <p:cNvPr id="14" name="Rectangle: Rounded Corners 13">
              <a:extLst>
                <a:ext uri="{FF2B5EF4-FFF2-40B4-BE49-F238E27FC236}">
                  <a16:creationId xmlns:a16="http://schemas.microsoft.com/office/drawing/2014/main" id="{1427E6D8-7430-1D3F-1D74-C8657F6B96C7}"/>
                </a:ext>
              </a:extLst>
            </p:cNvPr>
            <p:cNvSpPr/>
            <p:nvPr/>
          </p:nvSpPr>
          <p:spPr>
            <a:xfrm>
              <a:off x="683959" y="3857137"/>
              <a:ext cx="1744678" cy="152585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Sensor Setup</a:t>
              </a:r>
            </a:p>
          </p:txBody>
        </p:sp>
        <p:sp>
          <p:nvSpPr>
            <p:cNvPr id="15" name="Rectangle: Rounded Corners 14">
              <a:extLst>
                <a:ext uri="{FF2B5EF4-FFF2-40B4-BE49-F238E27FC236}">
                  <a16:creationId xmlns:a16="http://schemas.microsoft.com/office/drawing/2014/main" id="{05476C3D-63EA-A2C1-ABA5-47F5269EF06D}"/>
                </a:ext>
              </a:extLst>
            </p:cNvPr>
            <p:cNvSpPr/>
            <p:nvPr/>
          </p:nvSpPr>
          <p:spPr>
            <a:xfrm>
              <a:off x="5220846" y="3813952"/>
              <a:ext cx="1593113" cy="152585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Feature Vectorization</a:t>
              </a:r>
            </a:p>
          </p:txBody>
        </p:sp>
        <p:sp>
          <p:nvSpPr>
            <p:cNvPr id="16" name="Rectangle: Rounded Corners 15">
              <a:extLst>
                <a:ext uri="{FF2B5EF4-FFF2-40B4-BE49-F238E27FC236}">
                  <a16:creationId xmlns:a16="http://schemas.microsoft.com/office/drawing/2014/main" id="{5C4887E9-90D1-93AD-E3FD-D3935F692B82}"/>
                </a:ext>
              </a:extLst>
            </p:cNvPr>
            <p:cNvSpPr/>
            <p:nvPr/>
          </p:nvSpPr>
          <p:spPr>
            <a:xfrm>
              <a:off x="7365236" y="3813952"/>
              <a:ext cx="1561956" cy="152585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Model</a:t>
              </a:r>
            </a:p>
            <a:p>
              <a:pPr algn="ctr"/>
              <a:r>
                <a:rPr lang="en-US" b="1" dirty="0">
                  <a:solidFill>
                    <a:schemeClr val="tx1"/>
                  </a:solidFill>
                  <a:latin typeface="Times New Roman" panose="02020603050405020304" pitchFamily="18" charset="0"/>
                  <a:cs typeface="Times New Roman" panose="02020603050405020304" pitchFamily="18" charset="0"/>
                </a:rPr>
                <a:t>Preparation</a:t>
              </a:r>
            </a:p>
          </p:txBody>
        </p:sp>
        <p:sp>
          <p:nvSpPr>
            <p:cNvPr id="17" name="Rectangle: Rounded Corners 16">
              <a:extLst>
                <a:ext uri="{FF2B5EF4-FFF2-40B4-BE49-F238E27FC236}">
                  <a16:creationId xmlns:a16="http://schemas.microsoft.com/office/drawing/2014/main" id="{76BF235B-EDC5-F81C-69F9-52FB366CE26E}"/>
                </a:ext>
              </a:extLst>
            </p:cNvPr>
            <p:cNvSpPr/>
            <p:nvPr/>
          </p:nvSpPr>
          <p:spPr>
            <a:xfrm>
              <a:off x="2980904" y="3854789"/>
              <a:ext cx="1640394" cy="152585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 Acquisition</a:t>
              </a:r>
            </a:p>
          </p:txBody>
        </p:sp>
        <p:sp>
          <p:nvSpPr>
            <p:cNvPr id="18" name="Rectangle: Rounded Corners 17">
              <a:extLst>
                <a:ext uri="{FF2B5EF4-FFF2-40B4-BE49-F238E27FC236}">
                  <a16:creationId xmlns:a16="http://schemas.microsoft.com/office/drawing/2014/main" id="{9CE7E55D-F4E9-02B8-54E9-740636B6DEB0}"/>
                </a:ext>
              </a:extLst>
            </p:cNvPr>
            <p:cNvSpPr/>
            <p:nvPr/>
          </p:nvSpPr>
          <p:spPr>
            <a:xfrm>
              <a:off x="9534486" y="3806990"/>
              <a:ext cx="1561955" cy="155441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Preliminary Result</a:t>
              </a:r>
            </a:p>
          </p:txBody>
        </p:sp>
      </p:grpSp>
      <p:sp>
        <p:nvSpPr>
          <p:cNvPr id="4" name="Slide Number Placeholder 3">
            <a:extLst>
              <a:ext uri="{FF2B5EF4-FFF2-40B4-BE49-F238E27FC236}">
                <a16:creationId xmlns:a16="http://schemas.microsoft.com/office/drawing/2014/main" id="{E9F12242-FC4B-749C-FB9B-8AC435034A96}"/>
              </a:ext>
            </a:extLst>
          </p:cNvPr>
          <p:cNvSpPr>
            <a:spLocks noGrp="1"/>
          </p:cNvSpPr>
          <p:nvPr>
            <p:ph type="sldNum" sz="quarter" idx="12"/>
          </p:nvPr>
        </p:nvSpPr>
        <p:spPr/>
        <p:txBody>
          <a:bodyPr/>
          <a:lstStyle/>
          <a:p>
            <a:fld id="{C45F31B8-6562-4A36-A35A-9CD554BAFD2A}" type="slidenum">
              <a:rPr lang="en-US" smtClean="0"/>
              <a:t>16</a:t>
            </a:fld>
            <a:endParaRPr lang="en-US"/>
          </a:p>
        </p:txBody>
      </p:sp>
      <p:cxnSp>
        <p:nvCxnSpPr>
          <p:cNvPr id="6" name="Straight Arrow Connector 5">
            <a:extLst>
              <a:ext uri="{FF2B5EF4-FFF2-40B4-BE49-F238E27FC236}">
                <a16:creationId xmlns:a16="http://schemas.microsoft.com/office/drawing/2014/main" id="{BB12286B-DD75-FEBB-A744-513242B3D069}"/>
              </a:ext>
            </a:extLst>
          </p:cNvPr>
          <p:cNvCxnSpPr>
            <a:stCxn id="14" idx="3"/>
            <a:endCxn id="17" idx="1"/>
          </p:cNvCxnSpPr>
          <p:nvPr/>
        </p:nvCxnSpPr>
        <p:spPr>
          <a:xfrm flipV="1">
            <a:off x="2582231" y="3103345"/>
            <a:ext cx="577647" cy="35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26BE33FF-BEE1-297E-153D-0A57FD4C28CC}"/>
              </a:ext>
            </a:extLst>
          </p:cNvPr>
          <p:cNvCxnSpPr/>
          <p:nvPr/>
        </p:nvCxnSpPr>
        <p:spPr>
          <a:xfrm flipV="1">
            <a:off x="7168054" y="3052919"/>
            <a:ext cx="577647" cy="35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ED6E7AC-00C3-96DA-D677-6C69502DAB5B}"/>
              </a:ext>
            </a:extLst>
          </p:cNvPr>
          <p:cNvCxnSpPr/>
          <p:nvPr/>
        </p:nvCxnSpPr>
        <p:spPr>
          <a:xfrm flipV="1">
            <a:off x="4900387" y="3103345"/>
            <a:ext cx="577647" cy="35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596D898-9430-51C1-4467-86F76B997E25}"/>
              </a:ext>
            </a:extLst>
          </p:cNvPr>
          <p:cNvCxnSpPr/>
          <p:nvPr/>
        </p:nvCxnSpPr>
        <p:spPr>
          <a:xfrm flipV="1">
            <a:off x="9379440" y="3042266"/>
            <a:ext cx="577647" cy="35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9724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528D-F28B-3336-B112-D73E5D7BC0EA}"/>
              </a:ext>
            </a:extLst>
          </p:cNvPr>
          <p:cNvSpPr>
            <a:spLocks noGrp="1"/>
          </p:cNvSpPr>
          <p:nvPr>
            <p:ph type="title"/>
          </p:nvPr>
        </p:nvSpPr>
        <p:spPr>
          <a:xfrm>
            <a:off x="409073" y="92234"/>
            <a:ext cx="10515600" cy="681622"/>
          </a:xfrm>
        </p:spPr>
        <p:txBody>
          <a:bodyPr>
            <a:normAutofit fontScale="90000"/>
          </a:bodyPr>
          <a:lstStyle/>
          <a:p>
            <a:r>
              <a:rPr lang="en-US" sz="4300" b="1" dirty="0">
                <a:latin typeface="Times New Roman" panose="02020603050405020304" pitchFamily="18" charset="0"/>
                <a:cs typeface="Times New Roman" panose="02020603050405020304" pitchFamily="18" charset="0"/>
              </a:rPr>
              <a:t>Single Activity Recognition (Range-Doppler)</a:t>
            </a:r>
          </a:p>
        </p:txBody>
      </p:sp>
      <p:sp>
        <p:nvSpPr>
          <p:cNvPr id="4" name="Slide Number Placeholder 3">
            <a:extLst>
              <a:ext uri="{FF2B5EF4-FFF2-40B4-BE49-F238E27FC236}">
                <a16:creationId xmlns:a16="http://schemas.microsoft.com/office/drawing/2014/main" id="{16053076-8855-B724-18E1-8AFCAD7474C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C45F31B8-6562-4A36-A35A-9CD554BAFD2A}" type="slidenum">
              <a:rPr lang="en-US" smtClean="0"/>
              <a:pPr>
                <a:spcAft>
                  <a:spcPts val="600"/>
                </a:spcAft>
              </a:pPr>
              <a:t>17</a:t>
            </a:fld>
            <a:endParaRPr lang="en-US"/>
          </a:p>
        </p:txBody>
      </p:sp>
      <p:pic>
        <p:nvPicPr>
          <p:cNvPr id="11" name="Picture 10">
            <a:extLst>
              <a:ext uri="{FF2B5EF4-FFF2-40B4-BE49-F238E27FC236}">
                <a16:creationId xmlns:a16="http://schemas.microsoft.com/office/drawing/2014/main" id="{EABB7919-238B-1FBF-4E28-561E3995BE35}"/>
              </a:ext>
            </a:extLst>
          </p:cNvPr>
          <p:cNvPicPr>
            <a:picLocks noChangeAspect="1"/>
          </p:cNvPicPr>
          <p:nvPr/>
        </p:nvPicPr>
        <p:blipFill>
          <a:blip r:embed="rId2"/>
          <a:stretch>
            <a:fillRect/>
          </a:stretch>
        </p:blipFill>
        <p:spPr>
          <a:xfrm>
            <a:off x="664874" y="914400"/>
            <a:ext cx="1885821" cy="2130693"/>
          </a:xfrm>
          <a:prstGeom prst="rect">
            <a:avLst/>
          </a:prstGeom>
        </p:spPr>
      </p:pic>
      <p:pic>
        <p:nvPicPr>
          <p:cNvPr id="13" name="Picture 12">
            <a:extLst>
              <a:ext uri="{FF2B5EF4-FFF2-40B4-BE49-F238E27FC236}">
                <a16:creationId xmlns:a16="http://schemas.microsoft.com/office/drawing/2014/main" id="{90C2C520-30B0-125C-67D3-3D3E4D95D813}"/>
              </a:ext>
            </a:extLst>
          </p:cNvPr>
          <p:cNvPicPr>
            <a:picLocks noChangeAspect="1"/>
          </p:cNvPicPr>
          <p:nvPr/>
        </p:nvPicPr>
        <p:blipFill>
          <a:blip r:embed="rId3"/>
          <a:stretch>
            <a:fillRect/>
          </a:stretch>
        </p:blipFill>
        <p:spPr>
          <a:xfrm>
            <a:off x="3740066" y="914399"/>
            <a:ext cx="1786131" cy="2130693"/>
          </a:xfrm>
          <a:prstGeom prst="rect">
            <a:avLst/>
          </a:prstGeom>
        </p:spPr>
      </p:pic>
      <p:pic>
        <p:nvPicPr>
          <p:cNvPr id="16" name="Picture 15">
            <a:extLst>
              <a:ext uri="{FF2B5EF4-FFF2-40B4-BE49-F238E27FC236}">
                <a16:creationId xmlns:a16="http://schemas.microsoft.com/office/drawing/2014/main" id="{9CD0CBC5-BA11-32EB-5D85-1AC1DC944360}"/>
              </a:ext>
            </a:extLst>
          </p:cNvPr>
          <p:cNvPicPr>
            <a:picLocks noChangeAspect="1"/>
          </p:cNvPicPr>
          <p:nvPr/>
        </p:nvPicPr>
        <p:blipFill>
          <a:blip r:embed="rId4"/>
          <a:stretch>
            <a:fillRect/>
          </a:stretch>
        </p:blipFill>
        <p:spPr>
          <a:xfrm>
            <a:off x="6380310" y="883766"/>
            <a:ext cx="1885821" cy="2130693"/>
          </a:xfrm>
          <a:prstGeom prst="rect">
            <a:avLst/>
          </a:prstGeom>
        </p:spPr>
      </p:pic>
      <p:pic>
        <p:nvPicPr>
          <p:cNvPr id="18" name="Picture 17">
            <a:extLst>
              <a:ext uri="{FF2B5EF4-FFF2-40B4-BE49-F238E27FC236}">
                <a16:creationId xmlns:a16="http://schemas.microsoft.com/office/drawing/2014/main" id="{1684AEF2-09C8-9A78-3BC5-415FDBBA1832}"/>
              </a:ext>
            </a:extLst>
          </p:cNvPr>
          <p:cNvPicPr>
            <a:picLocks noChangeAspect="1"/>
          </p:cNvPicPr>
          <p:nvPr/>
        </p:nvPicPr>
        <p:blipFill>
          <a:blip r:embed="rId5"/>
          <a:stretch>
            <a:fillRect/>
          </a:stretch>
        </p:blipFill>
        <p:spPr>
          <a:xfrm>
            <a:off x="9455502" y="899083"/>
            <a:ext cx="1885821" cy="2130694"/>
          </a:xfrm>
          <a:prstGeom prst="rect">
            <a:avLst/>
          </a:prstGeom>
        </p:spPr>
      </p:pic>
      <p:pic>
        <p:nvPicPr>
          <p:cNvPr id="20" name="Picture 19">
            <a:extLst>
              <a:ext uri="{FF2B5EF4-FFF2-40B4-BE49-F238E27FC236}">
                <a16:creationId xmlns:a16="http://schemas.microsoft.com/office/drawing/2014/main" id="{45412944-B1A6-C1B9-D984-9C88FF221067}"/>
              </a:ext>
            </a:extLst>
          </p:cNvPr>
          <p:cNvPicPr>
            <a:picLocks noChangeAspect="1"/>
          </p:cNvPicPr>
          <p:nvPr/>
        </p:nvPicPr>
        <p:blipFill>
          <a:blip r:embed="rId6"/>
          <a:stretch>
            <a:fillRect/>
          </a:stretch>
        </p:blipFill>
        <p:spPr>
          <a:xfrm>
            <a:off x="6380310" y="3295546"/>
            <a:ext cx="1885821" cy="1629149"/>
          </a:xfrm>
          <a:prstGeom prst="rect">
            <a:avLst/>
          </a:prstGeom>
        </p:spPr>
      </p:pic>
      <p:pic>
        <p:nvPicPr>
          <p:cNvPr id="22" name="Picture 21">
            <a:extLst>
              <a:ext uri="{FF2B5EF4-FFF2-40B4-BE49-F238E27FC236}">
                <a16:creationId xmlns:a16="http://schemas.microsoft.com/office/drawing/2014/main" id="{CC3EE792-49E0-1FC1-62C3-70C626D0EB84}"/>
              </a:ext>
            </a:extLst>
          </p:cNvPr>
          <p:cNvPicPr>
            <a:picLocks noChangeAspect="1"/>
          </p:cNvPicPr>
          <p:nvPr/>
        </p:nvPicPr>
        <p:blipFill>
          <a:blip r:embed="rId7"/>
          <a:stretch>
            <a:fillRect/>
          </a:stretch>
        </p:blipFill>
        <p:spPr>
          <a:xfrm>
            <a:off x="9467979" y="3295548"/>
            <a:ext cx="1885821" cy="1629147"/>
          </a:xfrm>
          <a:prstGeom prst="rect">
            <a:avLst/>
          </a:prstGeom>
        </p:spPr>
      </p:pic>
      <p:pic>
        <p:nvPicPr>
          <p:cNvPr id="24" name="Picture 23">
            <a:extLst>
              <a:ext uri="{FF2B5EF4-FFF2-40B4-BE49-F238E27FC236}">
                <a16:creationId xmlns:a16="http://schemas.microsoft.com/office/drawing/2014/main" id="{EA195709-5B34-280D-C061-9A0241D8D273}"/>
              </a:ext>
            </a:extLst>
          </p:cNvPr>
          <p:cNvPicPr>
            <a:picLocks noChangeAspect="1"/>
          </p:cNvPicPr>
          <p:nvPr/>
        </p:nvPicPr>
        <p:blipFill>
          <a:blip r:embed="rId8"/>
          <a:stretch>
            <a:fillRect/>
          </a:stretch>
        </p:blipFill>
        <p:spPr>
          <a:xfrm>
            <a:off x="664874" y="3295546"/>
            <a:ext cx="1885821" cy="1629149"/>
          </a:xfrm>
          <a:prstGeom prst="rect">
            <a:avLst/>
          </a:prstGeom>
        </p:spPr>
      </p:pic>
      <p:pic>
        <p:nvPicPr>
          <p:cNvPr id="26" name="Picture 25">
            <a:extLst>
              <a:ext uri="{FF2B5EF4-FFF2-40B4-BE49-F238E27FC236}">
                <a16:creationId xmlns:a16="http://schemas.microsoft.com/office/drawing/2014/main" id="{E2932131-CE5A-F205-676C-3CBDDB7D6EBC}"/>
              </a:ext>
            </a:extLst>
          </p:cNvPr>
          <p:cNvPicPr>
            <a:picLocks noChangeAspect="1"/>
          </p:cNvPicPr>
          <p:nvPr/>
        </p:nvPicPr>
        <p:blipFill>
          <a:blip r:embed="rId9"/>
          <a:stretch>
            <a:fillRect/>
          </a:stretch>
        </p:blipFill>
        <p:spPr>
          <a:xfrm>
            <a:off x="3740066" y="3295546"/>
            <a:ext cx="1786131" cy="1629149"/>
          </a:xfrm>
          <a:prstGeom prst="rect">
            <a:avLst/>
          </a:prstGeom>
        </p:spPr>
      </p:pic>
      <p:sp>
        <p:nvSpPr>
          <p:cNvPr id="27" name="TextBox 26">
            <a:extLst>
              <a:ext uri="{FF2B5EF4-FFF2-40B4-BE49-F238E27FC236}">
                <a16:creationId xmlns:a16="http://schemas.microsoft.com/office/drawing/2014/main" id="{A1D0266E-541E-47D6-F83B-126C29D9C8AA}"/>
              </a:ext>
            </a:extLst>
          </p:cNvPr>
          <p:cNvSpPr txBox="1"/>
          <p:nvPr/>
        </p:nvSpPr>
        <p:spPr>
          <a:xfrm>
            <a:off x="1106905" y="5190466"/>
            <a:ext cx="1263316" cy="369332"/>
          </a:xfrm>
          <a:prstGeom prst="rect">
            <a:avLst/>
          </a:prstGeom>
          <a:noFill/>
        </p:spPr>
        <p:txBody>
          <a:bodyPr wrap="square" rtlCol="0">
            <a:spAutoFit/>
          </a:bodyPr>
          <a:lstStyle/>
          <a:p>
            <a:r>
              <a:rPr lang="en-US" dirty="0"/>
              <a:t>Sitting</a:t>
            </a:r>
          </a:p>
        </p:txBody>
      </p:sp>
      <p:sp>
        <p:nvSpPr>
          <p:cNvPr id="28" name="TextBox 27">
            <a:extLst>
              <a:ext uri="{FF2B5EF4-FFF2-40B4-BE49-F238E27FC236}">
                <a16:creationId xmlns:a16="http://schemas.microsoft.com/office/drawing/2014/main" id="{5BDB529A-3312-8F78-D0E8-2CD4659C3D35}"/>
              </a:ext>
            </a:extLst>
          </p:cNvPr>
          <p:cNvSpPr txBox="1"/>
          <p:nvPr/>
        </p:nvSpPr>
        <p:spPr>
          <a:xfrm>
            <a:off x="6813886" y="5190466"/>
            <a:ext cx="1263316" cy="369332"/>
          </a:xfrm>
          <a:prstGeom prst="rect">
            <a:avLst/>
          </a:prstGeom>
          <a:noFill/>
        </p:spPr>
        <p:txBody>
          <a:bodyPr wrap="square" rtlCol="0">
            <a:spAutoFit/>
          </a:bodyPr>
          <a:lstStyle/>
          <a:p>
            <a:r>
              <a:rPr lang="en-US" dirty="0"/>
              <a:t>Waving</a:t>
            </a:r>
          </a:p>
        </p:txBody>
      </p:sp>
      <p:sp>
        <p:nvSpPr>
          <p:cNvPr id="29" name="TextBox 28">
            <a:extLst>
              <a:ext uri="{FF2B5EF4-FFF2-40B4-BE49-F238E27FC236}">
                <a16:creationId xmlns:a16="http://schemas.microsoft.com/office/drawing/2014/main" id="{FDFA0E9D-7672-6075-C61E-3E37432D83DC}"/>
              </a:ext>
            </a:extLst>
          </p:cNvPr>
          <p:cNvSpPr txBox="1"/>
          <p:nvPr/>
        </p:nvSpPr>
        <p:spPr>
          <a:xfrm>
            <a:off x="4114800" y="5190648"/>
            <a:ext cx="1263316" cy="369332"/>
          </a:xfrm>
          <a:prstGeom prst="rect">
            <a:avLst/>
          </a:prstGeom>
          <a:noFill/>
        </p:spPr>
        <p:txBody>
          <a:bodyPr wrap="square" rtlCol="0">
            <a:spAutoFit/>
          </a:bodyPr>
          <a:lstStyle/>
          <a:p>
            <a:r>
              <a:rPr lang="en-US" dirty="0"/>
              <a:t>Standing</a:t>
            </a:r>
          </a:p>
        </p:txBody>
      </p:sp>
      <p:sp>
        <p:nvSpPr>
          <p:cNvPr id="30" name="TextBox 29">
            <a:extLst>
              <a:ext uri="{FF2B5EF4-FFF2-40B4-BE49-F238E27FC236}">
                <a16:creationId xmlns:a16="http://schemas.microsoft.com/office/drawing/2014/main" id="{D02AA176-8631-0FC4-60B6-156862A39B26}"/>
              </a:ext>
            </a:extLst>
          </p:cNvPr>
          <p:cNvSpPr txBox="1"/>
          <p:nvPr/>
        </p:nvSpPr>
        <p:spPr>
          <a:xfrm>
            <a:off x="9661357" y="5190466"/>
            <a:ext cx="1263316" cy="369332"/>
          </a:xfrm>
          <a:prstGeom prst="rect">
            <a:avLst/>
          </a:prstGeom>
          <a:noFill/>
        </p:spPr>
        <p:txBody>
          <a:bodyPr wrap="square" rtlCol="0">
            <a:spAutoFit/>
          </a:bodyPr>
          <a:lstStyle/>
          <a:p>
            <a:r>
              <a:rPr lang="en-US" dirty="0"/>
              <a:t>Walking</a:t>
            </a:r>
          </a:p>
        </p:txBody>
      </p:sp>
      <p:cxnSp>
        <p:nvCxnSpPr>
          <p:cNvPr id="33" name="Straight Connector 32">
            <a:extLst>
              <a:ext uri="{FF2B5EF4-FFF2-40B4-BE49-F238E27FC236}">
                <a16:creationId xmlns:a16="http://schemas.microsoft.com/office/drawing/2014/main" id="{28FA8A31-6A2B-2550-C700-51C9FBEF11DD}"/>
              </a:ext>
            </a:extLst>
          </p:cNvPr>
          <p:cNvCxnSpPr/>
          <p:nvPr/>
        </p:nvCxnSpPr>
        <p:spPr>
          <a:xfrm>
            <a:off x="409073" y="713975"/>
            <a:ext cx="11269783" cy="0"/>
          </a:xfrm>
          <a:prstGeom prst="line">
            <a:avLst/>
          </a:prstGeom>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686706BA-B43C-D336-A311-268DB7CE4FC8}"/>
              </a:ext>
            </a:extLst>
          </p:cNvPr>
          <p:cNvSpPr txBox="1"/>
          <p:nvPr/>
        </p:nvSpPr>
        <p:spPr>
          <a:xfrm>
            <a:off x="1607784" y="5756887"/>
            <a:ext cx="855369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Illustration of four single activity and their samples of range-doppler spectrum </a:t>
            </a:r>
          </a:p>
        </p:txBody>
      </p:sp>
    </p:spTree>
    <p:extLst>
      <p:ext uri="{BB962C8B-B14F-4D97-AF65-F5344CB8AC3E}">
        <p14:creationId xmlns:p14="http://schemas.microsoft.com/office/powerpoint/2010/main" val="3821285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343869-B626-E5CB-70EC-B4B2D59E58A9}"/>
              </a:ext>
            </a:extLst>
          </p:cNvPr>
          <p:cNvSpPr>
            <a:spLocks noGrp="1"/>
          </p:cNvSpPr>
          <p:nvPr>
            <p:ph type="sldNum" sz="quarter" idx="12"/>
          </p:nvPr>
        </p:nvSpPr>
        <p:spPr/>
        <p:txBody>
          <a:bodyPr/>
          <a:lstStyle/>
          <a:p>
            <a:fld id="{C45F31B8-6562-4A36-A35A-9CD554BAFD2A}" type="slidenum">
              <a:rPr lang="en-US" smtClean="0"/>
              <a:t>18</a:t>
            </a:fld>
            <a:endParaRPr lang="en-US"/>
          </a:p>
        </p:txBody>
      </p:sp>
      <p:sp>
        <p:nvSpPr>
          <p:cNvPr id="4" name="Title 1">
            <a:extLst>
              <a:ext uri="{FF2B5EF4-FFF2-40B4-BE49-F238E27FC236}">
                <a16:creationId xmlns:a16="http://schemas.microsoft.com/office/drawing/2014/main" id="{38E6EC5C-5A74-8692-528E-B52BA03C1DB7}"/>
              </a:ext>
            </a:extLst>
          </p:cNvPr>
          <p:cNvSpPr txBox="1">
            <a:spLocks/>
          </p:cNvSpPr>
          <p:nvPr/>
        </p:nvSpPr>
        <p:spPr>
          <a:xfrm>
            <a:off x="196131" y="136525"/>
            <a:ext cx="10515600" cy="68162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latin typeface="Times New Roman" panose="02020603050405020304" pitchFamily="18" charset="0"/>
                <a:cs typeface="Times New Roman" panose="02020603050405020304" pitchFamily="18" charset="0"/>
              </a:rPr>
              <a:t>Preliminary Result</a:t>
            </a:r>
          </a:p>
        </p:txBody>
      </p:sp>
      <p:pic>
        <p:nvPicPr>
          <p:cNvPr id="13" name="Content Placeholder 12">
            <a:extLst>
              <a:ext uri="{FF2B5EF4-FFF2-40B4-BE49-F238E27FC236}">
                <a16:creationId xmlns:a16="http://schemas.microsoft.com/office/drawing/2014/main" id="{66D17307-5265-AE96-8D7F-FA76195A2955}"/>
              </a:ext>
            </a:extLst>
          </p:cNvPr>
          <p:cNvPicPr>
            <a:picLocks noGrp="1" noChangeAspect="1"/>
          </p:cNvPicPr>
          <p:nvPr>
            <p:ph idx="1"/>
          </p:nvPr>
        </p:nvPicPr>
        <p:blipFill>
          <a:blip r:embed="rId2"/>
          <a:srcRect t="5255"/>
          <a:stretch>
            <a:fillRect/>
          </a:stretch>
        </p:blipFill>
        <p:spPr>
          <a:xfrm>
            <a:off x="409074" y="876821"/>
            <a:ext cx="5553316" cy="5060516"/>
          </a:xfrm>
          <a:prstGeom prst="rect">
            <a:avLst/>
          </a:prstGeom>
        </p:spPr>
      </p:pic>
      <p:pic>
        <p:nvPicPr>
          <p:cNvPr id="15" name="Picture 14">
            <a:extLst>
              <a:ext uri="{FF2B5EF4-FFF2-40B4-BE49-F238E27FC236}">
                <a16:creationId xmlns:a16="http://schemas.microsoft.com/office/drawing/2014/main" id="{3980468E-9CF7-CA4A-DF8B-58C5DFA9CE3C}"/>
              </a:ext>
            </a:extLst>
          </p:cNvPr>
          <p:cNvPicPr>
            <a:picLocks noChangeAspect="1"/>
          </p:cNvPicPr>
          <p:nvPr/>
        </p:nvPicPr>
        <p:blipFill>
          <a:blip r:embed="rId3"/>
          <a:stretch>
            <a:fillRect/>
          </a:stretch>
        </p:blipFill>
        <p:spPr>
          <a:xfrm>
            <a:off x="6851738" y="1212627"/>
            <a:ext cx="4953200" cy="4768552"/>
          </a:xfrm>
          <a:prstGeom prst="rect">
            <a:avLst/>
          </a:prstGeom>
        </p:spPr>
      </p:pic>
    </p:spTree>
    <p:extLst>
      <p:ext uri="{BB962C8B-B14F-4D97-AF65-F5344CB8AC3E}">
        <p14:creationId xmlns:p14="http://schemas.microsoft.com/office/powerpoint/2010/main" val="369499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0C9F-7827-2124-C1C5-D1A26DDA3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AF912-C62E-38F1-0021-0A67B2E3CB11}"/>
              </a:ext>
            </a:extLst>
          </p:cNvPr>
          <p:cNvSpPr>
            <a:spLocks noGrp="1"/>
          </p:cNvSpPr>
          <p:nvPr>
            <p:ph type="title"/>
          </p:nvPr>
        </p:nvSpPr>
        <p:spPr>
          <a:xfrm>
            <a:off x="409073" y="20372"/>
            <a:ext cx="10515600" cy="681622"/>
          </a:xfrm>
        </p:spPr>
        <p:txBody>
          <a:bodyPr>
            <a:normAutofit/>
          </a:bodyPr>
          <a:lstStyle/>
          <a:p>
            <a:r>
              <a:rPr lang="en-US" sz="4300" b="1" dirty="0">
                <a:latin typeface="Times New Roman" panose="02020603050405020304" pitchFamily="18" charset="0"/>
                <a:cs typeface="Times New Roman" panose="02020603050405020304" pitchFamily="18" charset="0"/>
              </a:rPr>
              <a:t>Single Activity Recognition (Point Cloud)</a:t>
            </a:r>
          </a:p>
        </p:txBody>
      </p:sp>
      <p:sp>
        <p:nvSpPr>
          <p:cNvPr id="4" name="Slide Number Placeholder 3">
            <a:extLst>
              <a:ext uri="{FF2B5EF4-FFF2-40B4-BE49-F238E27FC236}">
                <a16:creationId xmlns:a16="http://schemas.microsoft.com/office/drawing/2014/main" id="{E165D4D3-934D-4F13-6E65-9071C3541F2E}"/>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C45F31B8-6562-4A36-A35A-9CD554BAFD2A}" type="slidenum">
              <a:rPr lang="en-US" smtClean="0"/>
              <a:pPr>
                <a:spcAft>
                  <a:spcPts val="600"/>
                </a:spcAft>
              </a:pPr>
              <a:t>19</a:t>
            </a:fld>
            <a:endParaRPr lang="en-US"/>
          </a:p>
        </p:txBody>
      </p:sp>
      <p:cxnSp>
        <p:nvCxnSpPr>
          <p:cNvPr id="33" name="Straight Connector 32">
            <a:extLst>
              <a:ext uri="{FF2B5EF4-FFF2-40B4-BE49-F238E27FC236}">
                <a16:creationId xmlns:a16="http://schemas.microsoft.com/office/drawing/2014/main" id="{952F7617-6D6B-9120-84A7-EF17D738B71A}"/>
              </a:ext>
            </a:extLst>
          </p:cNvPr>
          <p:cNvCxnSpPr/>
          <p:nvPr/>
        </p:nvCxnSpPr>
        <p:spPr>
          <a:xfrm>
            <a:off x="409073" y="713975"/>
            <a:ext cx="11269783" cy="0"/>
          </a:xfrm>
          <a:prstGeom prst="line">
            <a:avLst/>
          </a:prstGeom>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BBEFF2B1-6308-9D32-E66C-3DEE9BEEB09D}"/>
              </a:ext>
            </a:extLst>
          </p:cNvPr>
          <p:cNvPicPr>
            <a:picLocks noChangeAspect="1"/>
          </p:cNvPicPr>
          <p:nvPr/>
        </p:nvPicPr>
        <p:blipFill>
          <a:blip r:embed="rId2"/>
          <a:stretch>
            <a:fillRect/>
          </a:stretch>
        </p:blipFill>
        <p:spPr>
          <a:xfrm>
            <a:off x="813037" y="1171996"/>
            <a:ext cx="9707672" cy="4212416"/>
          </a:xfrm>
          <a:prstGeom prst="rect">
            <a:avLst/>
          </a:prstGeom>
        </p:spPr>
      </p:pic>
    </p:spTree>
    <p:extLst>
      <p:ext uri="{BB962C8B-B14F-4D97-AF65-F5344CB8AC3E}">
        <p14:creationId xmlns:p14="http://schemas.microsoft.com/office/powerpoint/2010/main" val="348694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D38F-4DD1-E94B-B6C1-C5A10F3BF8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D143B6D-6B81-0109-3112-EC4DE3C8815B}"/>
              </a:ext>
            </a:extLst>
          </p:cNvPr>
          <p:cNvSpPr>
            <a:spLocks noGrp="1"/>
          </p:cNvSpPr>
          <p:nvPr>
            <p:ph type="sldNum" sz="quarter" idx="12"/>
          </p:nvPr>
        </p:nvSpPr>
        <p:spPr/>
        <p:txBody>
          <a:bodyPr/>
          <a:lstStyle/>
          <a:p>
            <a:fld id="{C45F31B8-6562-4A36-A35A-9CD554BAFD2A}" type="slidenum">
              <a:rPr lang="en-US" smtClean="0"/>
              <a:t>20</a:t>
            </a:fld>
            <a:endParaRPr lang="en-US"/>
          </a:p>
        </p:txBody>
      </p:sp>
      <p:sp>
        <p:nvSpPr>
          <p:cNvPr id="4" name="Title 1">
            <a:extLst>
              <a:ext uri="{FF2B5EF4-FFF2-40B4-BE49-F238E27FC236}">
                <a16:creationId xmlns:a16="http://schemas.microsoft.com/office/drawing/2014/main" id="{FF71D964-FDB9-0148-949F-4EDF9594EF3D}"/>
              </a:ext>
            </a:extLst>
          </p:cNvPr>
          <p:cNvSpPr txBox="1">
            <a:spLocks/>
          </p:cNvSpPr>
          <p:nvPr/>
        </p:nvSpPr>
        <p:spPr>
          <a:xfrm>
            <a:off x="196131" y="136525"/>
            <a:ext cx="10515600" cy="68162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latin typeface="Times New Roman" panose="02020603050405020304" pitchFamily="18" charset="0"/>
                <a:cs typeface="Times New Roman" panose="02020603050405020304" pitchFamily="18" charset="0"/>
              </a:rPr>
              <a:t>Preliminary Result</a:t>
            </a:r>
          </a:p>
        </p:txBody>
      </p:sp>
      <p:pic>
        <p:nvPicPr>
          <p:cNvPr id="7" name="Picture 6">
            <a:extLst>
              <a:ext uri="{FF2B5EF4-FFF2-40B4-BE49-F238E27FC236}">
                <a16:creationId xmlns:a16="http://schemas.microsoft.com/office/drawing/2014/main" id="{41724347-32FF-F9F0-B9A6-406F23791394}"/>
              </a:ext>
            </a:extLst>
          </p:cNvPr>
          <p:cNvPicPr>
            <a:picLocks noChangeAspect="1"/>
          </p:cNvPicPr>
          <p:nvPr/>
        </p:nvPicPr>
        <p:blipFill>
          <a:blip r:embed="rId2"/>
          <a:stretch>
            <a:fillRect/>
          </a:stretch>
        </p:blipFill>
        <p:spPr>
          <a:xfrm>
            <a:off x="196131" y="1421234"/>
            <a:ext cx="6281183" cy="4351337"/>
          </a:xfrm>
          <a:prstGeom prst="rect">
            <a:avLst/>
          </a:prstGeom>
        </p:spPr>
      </p:pic>
      <p:pic>
        <p:nvPicPr>
          <p:cNvPr id="9" name="Picture 8">
            <a:extLst>
              <a:ext uri="{FF2B5EF4-FFF2-40B4-BE49-F238E27FC236}">
                <a16:creationId xmlns:a16="http://schemas.microsoft.com/office/drawing/2014/main" id="{0418BB04-E18F-8822-5BCA-AA4D44DF8650}"/>
              </a:ext>
            </a:extLst>
          </p:cNvPr>
          <p:cNvPicPr>
            <a:picLocks noChangeAspect="1"/>
          </p:cNvPicPr>
          <p:nvPr/>
        </p:nvPicPr>
        <p:blipFill>
          <a:blip r:embed="rId3"/>
          <a:stretch>
            <a:fillRect/>
          </a:stretch>
        </p:blipFill>
        <p:spPr>
          <a:xfrm>
            <a:off x="6477314" y="1085429"/>
            <a:ext cx="5518555" cy="4814329"/>
          </a:xfrm>
          <a:prstGeom prst="rect">
            <a:avLst/>
          </a:prstGeom>
        </p:spPr>
      </p:pic>
    </p:spTree>
    <p:extLst>
      <p:ext uri="{BB962C8B-B14F-4D97-AF65-F5344CB8AC3E}">
        <p14:creationId xmlns:p14="http://schemas.microsoft.com/office/powerpoint/2010/main" val="1991826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959D-D16D-7ED2-37F8-C474196027F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9917DE-4FB3-643A-D0F3-95A385FAFBB4}"/>
              </a:ext>
            </a:extLst>
          </p:cNvPr>
          <p:cNvSpPr>
            <a:spLocks noGrp="1"/>
          </p:cNvSpPr>
          <p:nvPr>
            <p:ph type="sldNum" sz="quarter" idx="12"/>
          </p:nvPr>
        </p:nvSpPr>
        <p:spPr/>
        <p:txBody>
          <a:bodyPr/>
          <a:lstStyle/>
          <a:p>
            <a:fld id="{C45F31B8-6562-4A36-A35A-9CD554BAFD2A}" type="slidenum">
              <a:rPr lang="en-US" smtClean="0"/>
              <a:t>21</a:t>
            </a:fld>
            <a:endParaRPr lang="en-US"/>
          </a:p>
        </p:txBody>
      </p:sp>
      <p:sp>
        <p:nvSpPr>
          <p:cNvPr id="4" name="Title 1">
            <a:extLst>
              <a:ext uri="{FF2B5EF4-FFF2-40B4-BE49-F238E27FC236}">
                <a16:creationId xmlns:a16="http://schemas.microsoft.com/office/drawing/2014/main" id="{04F0DA80-6BD9-E4F7-810F-C801BAC919E4}"/>
              </a:ext>
            </a:extLst>
          </p:cNvPr>
          <p:cNvSpPr txBox="1">
            <a:spLocks/>
          </p:cNvSpPr>
          <p:nvPr/>
        </p:nvSpPr>
        <p:spPr>
          <a:xfrm>
            <a:off x="196131" y="136525"/>
            <a:ext cx="10515600" cy="68162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latin typeface="Times New Roman" panose="02020603050405020304" pitchFamily="18" charset="0"/>
                <a:cs typeface="Times New Roman" panose="02020603050405020304" pitchFamily="18" charset="0"/>
              </a:rPr>
              <a:t>Social Activity Result</a:t>
            </a:r>
          </a:p>
        </p:txBody>
      </p:sp>
      <p:pic>
        <p:nvPicPr>
          <p:cNvPr id="5" name="Picture 4">
            <a:extLst>
              <a:ext uri="{FF2B5EF4-FFF2-40B4-BE49-F238E27FC236}">
                <a16:creationId xmlns:a16="http://schemas.microsoft.com/office/drawing/2014/main" id="{B50C67AD-6794-B51F-740B-0886F17653F2}"/>
              </a:ext>
            </a:extLst>
          </p:cNvPr>
          <p:cNvPicPr>
            <a:picLocks noChangeAspect="1"/>
          </p:cNvPicPr>
          <p:nvPr/>
        </p:nvPicPr>
        <p:blipFill>
          <a:blip r:embed="rId2"/>
          <a:srcRect t="5381" b="1"/>
          <a:stretch>
            <a:fillRect/>
          </a:stretch>
        </p:blipFill>
        <p:spPr>
          <a:xfrm>
            <a:off x="308865" y="1145868"/>
            <a:ext cx="4989534" cy="4376177"/>
          </a:xfrm>
          <a:prstGeom prst="rect">
            <a:avLst/>
          </a:prstGeom>
        </p:spPr>
      </p:pic>
      <p:pic>
        <p:nvPicPr>
          <p:cNvPr id="8" name="Picture 7">
            <a:extLst>
              <a:ext uri="{FF2B5EF4-FFF2-40B4-BE49-F238E27FC236}">
                <a16:creationId xmlns:a16="http://schemas.microsoft.com/office/drawing/2014/main" id="{E0EF6274-949F-06A8-26DD-DEB740AF6735}"/>
              </a:ext>
            </a:extLst>
          </p:cNvPr>
          <p:cNvPicPr>
            <a:picLocks noChangeAspect="1"/>
          </p:cNvPicPr>
          <p:nvPr/>
        </p:nvPicPr>
        <p:blipFill>
          <a:blip r:embed="rId3"/>
          <a:stretch>
            <a:fillRect/>
          </a:stretch>
        </p:blipFill>
        <p:spPr>
          <a:xfrm>
            <a:off x="6364266" y="978698"/>
            <a:ext cx="4989534" cy="4710518"/>
          </a:xfrm>
          <a:prstGeom prst="rect">
            <a:avLst/>
          </a:prstGeom>
        </p:spPr>
      </p:pic>
    </p:spTree>
    <p:extLst>
      <p:ext uri="{BB962C8B-B14F-4D97-AF65-F5344CB8AC3E}">
        <p14:creationId xmlns:p14="http://schemas.microsoft.com/office/powerpoint/2010/main" val="1366819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E91D4-3F6D-B306-74E8-24EFDEAF4CDE}"/>
              </a:ext>
            </a:extLst>
          </p:cNvPr>
          <p:cNvSpPr>
            <a:spLocks noGrp="1"/>
          </p:cNvSpPr>
          <p:nvPr>
            <p:ph type="title"/>
          </p:nvPr>
        </p:nvSpPr>
        <p:spPr>
          <a:xfrm>
            <a:off x="403860" y="193675"/>
            <a:ext cx="10515600" cy="1325563"/>
          </a:xfrm>
        </p:spPr>
        <p:txBody>
          <a:bodyPr/>
          <a:lstStyle/>
          <a:p>
            <a:r>
              <a:rPr lang="en-US" sz="4000" dirty="0">
                <a:latin typeface="Times New Roman" panose="02020603050405020304" pitchFamily="18" charset="0"/>
                <a:cs typeface="Times New Roman" panose="02020603050405020304" pitchFamily="18" charset="0"/>
              </a:rPr>
              <a:t>Model Preparation</a:t>
            </a:r>
          </a:p>
        </p:txBody>
      </p:sp>
      <p:graphicFrame>
        <p:nvGraphicFramePr>
          <p:cNvPr id="3" name="Table 2">
            <a:extLst>
              <a:ext uri="{FF2B5EF4-FFF2-40B4-BE49-F238E27FC236}">
                <a16:creationId xmlns:a16="http://schemas.microsoft.com/office/drawing/2014/main" id="{ED5C53E1-EE89-F740-29B9-7B26D40206B5}"/>
              </a:ext>
            </a:extLst>
          </p:cNvPr>
          <p:cNvGraphicFramePr>
            <a:graphicFrameLocks noGrp="1"/>
          </p:cNvGraphicFramePr>
          <p:nvPr>
            <p:extLst>
              <p:ext uri="{D42A27DB-BD31-4B8C-83A1-F6EECF244321}">
                <p14:modId xmlns:p14="http://schemas.microsoft.com/office/powerpoint/2010/main" val="333343484"/>
              </p:ext>
            </p:extLst>
          </p:nvPr>
        </p:nvGraphicFramePr>
        <p:xfrm>
          <a:off x="555171" y="1270424"/>
          <a:ext cx="11232969" cy="5360193"/>
        </p:xfrm>
        <a:graphic>
          <a:graphicData uri="http://schemas.openxmlformats.org/drawingml/2006/table">
            <a:tbl>
              <a:tblPr firstRow="1" bandRow="1">
                <a:tableStyleId>{5C22544A-7EE6-4342-B048-85BDC9FD1C3A}</a:tableStyleId>
              </a:tblPr>
              <a:tblGrid>
                <a:gridCol w="3744323">
                  <a:extLst>
                    <a:ext uri="{9D8B030D-6E8A-4147-A177-3AD203B41FA5}">
                      <a16:colId xmlns:a16="http://schemas.microsoft.com/office/drawing/2014/main" val="1786016533"/>
                    </a:ext>
                  </a:extLst>
                </a:gridCol>
                <a:gridCol w="3744323">
                  <a:extLst>
                    <a:ext uri="{9D8B030D-6E8A-4147-A177-3AD203B41FA5}">
                      <a16:colId xmlns:a16="http://schemas.microsoft.com/office/drawing/2014/main" val="3272381442"/>
                    </a:ext>
                  </a:extLst>
                </a:gridCol>
                <a:gridCol w="3744323">
                  <a:extLst>
                    <a:ext uri="{9D8B030D-6E8A-4147-A177-3AD203B41FA5}">
                      <a16:colId xmlns:a16="http://schemas.microsoft.com/office/drawing/2014/main" val="2392236845"/>
                    </a:ext>
                  </a:extLst>
                </a:gridCol>
              </a:tblGrid>
              <a:tr h="595577">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Component</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LSTM Model</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CNN Model</a:t>
                      </a:r>
                    </a:p>
                  </a:txBody>
                  <a:tcPr anchor="ctr"/>
                </a:tc>
                <a:extLst>
                  <a:ext uri="{0D108BD9-81ED-4DB2-BD59-A6C34878D82A}">
                    <a16:rowId xmlns:a16="http://schemas.microsoft.com/office/drawing/2014/main" val="191000984"/>
                  </a:ext>
                </a:extLst>
              </a:tr>
              <a:tr h="595577">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Dataset Split</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80% Training, 20% Validation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Times New Roman" panose="02020603050405020304" pitchFamily="18" charset="0"/>
                          <a:cs typeface="Times New Roman" panose="02020603050405020304" pitchFamily="18" charset="0"/>
                        </a:rPr>
                        <a:t>80% Training, 20% Validation</a:t>
                      </a:r>
                    </a:p>
                  </a:txBody>
                  <a:tcPr anchor="ctr"/>
                </a:tc>
                <a:extLst>
                  <a:ext uri="{0D108BD9-81ED-4DB2-BD59-A6C34878D82A}">
                    <a16:rowId xmlns:a16="http://schemas.microsoft.com/office/drawing/2014/main" val="2964260238"/>
                  </a:ext>
                </a:extLst>
              </a:tr>
              <a:tr h="595577">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Loss Function</a:t>
                      </a:r>
                    </a:p>
                  </a:txBody>
                  <a:tcPr anchor="ctr"/>
                </a:tc>
                <a:tc>
                  <a:txBody>
                    <a:bodyPr/>
                    <a:lstStyle/>
                    <a:p>
                      <a:pPr algn="ctr"/>
                      <a:r>
                        <a:rPr lang="en-US" sz="1600" dirty="0" err="1"/>
                        <a:t>sparse_categorical_crossentropy</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err="1"/>
                        <a:t>sparse_categorical_crossentropy</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07216193"/>
                  </a:ext>
                </a:extLst>
              </a:tr>
              <a:tr h="595577">
                <a:tc>
                  <a:txBody>
                    <a:bodyPr/>
                    <a:lstStyle/>
                    <a:p>
                      <a:pPr algn="ctr"/>
                      <a:r>
                        <a:rPr lang="en-US" sz="1600" dirty="0"/>
                        <a:t>Optimizer (LR)</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Adam (</a:t>
                      </a:r>
                      <a:r>
                        <a:rPr lang="en-US" sz="1800" kern="1200" dirty="0" err="1">
                          <a:solidFill>
                            <a:schemeClr val="dk1"/>
                          </a:solidFill>
                          <a:latin typeface="+mn-lt"/>
                          <a:ea typeface="+mn-ea"/>
                          <a:cs typeface="+mn-cs"/>
                        </a:rPr>
                        <a:t>learning_rate</a:t>
                      </a:r>
                      <a:r>
                        <a:rPr lang="en-US" sz="1800" kern="1200" dirty="0">
                          <a:solidFill>
                            <a:schemeClr val="dk1"/>
                          </a:solidFill>
                          <a:latin typeface="+mn-lt"/>
                          <a:ea typeface="+mn-ea"/>
                          <a:cs typeface="+mn-cs"/>
                        </a:rPr>
                        <a:t>=0.001</a:t>
                      </a:r>
                      <a:r>
                        <a:rPr lang="en-US" sz="1600" dirty="0"/>
                        <a:t>)</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Adam (</a:t>
                      </a:r>
                      <a:r>
                        <a:rPr lang="en-US" sz="1800" kern="1200" dirty="0" err="1">
                          <a:solidFill>
                            <a:schemeClr val="dk1"/>
                          </a:solidFill>
                          <a:latin typeface="+mn-lt"/>
                          <a:ea typeface="+mn-ea"/>
                          <a:cs typeface="+mn-cs"/>
                        </a:rPr>
                        <a:t>learning_rate</a:t>
                      </a:r>
                      <a:r>
                        <a:rPr lang="en-US" sz="1800" kern="1200" dirty="0">
                          <a:solidFill>
                            <a:schemeClr val="dk1"/>
                          </a:solidFill>
                          <a:latin typeface="+mn-lt"/>
                          <a:ea typeface="+mn-ea"/>
                          <a:cs typeface="+mn-cs"/>
                        </a:rPr>
                        <a:t>=0.001</a:t>
                      </a:r>
                      <a:r>
                        <a:rPr lang="en-US" sz="1600" dirty="0"/>
                        <a:t>)</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0125899"/>
                  </a:ext>
                </a:extLst>
              </a:tr>
              <a:tr h="595577">
                <a:tc>
                  <a:txBody>
                    <a:bodyPr/>
                    <a:lstStyle/>
                    <a:p>
                      <a:pPr algn="ctr"/>
                      <a:r>
                        <a:rPr lang="en-US" sz="1600" dirty="0"/>
                        <a:t>Epochs</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50 (with </a:t>
                      </a:r>
                      <a:r>
                        <a:rPr lang="en-US" sz="1600" dirty="0" err="1"/>
                        <a:t>EarlyStopping</a:t>
                      </a:r>
                      <a:r>
                        <a:rPr lang="en-US" sz="1600" dirty="0"/>
                        <a:t>, patience = 10)</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50 (with </a:t>
                      </a:r>
                      <a:r>
                        <a:rPr lang="en-US" sz="1600" dirty="0" err="1"/>
                        <a:t>EarlyStopping</a:t>
                      </a:r>
                      <a:r>
                        <a:rPr lang="en-US" sz="1600" dirty="0"/>
                        <a:t>, patience = 10)</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48093210"/>
                  </a:ext>
                </a:extLst>
              </a:tr>
              <a:tr h="595577">
                <a:tc>
                  <a:txBody>
                    <a:bodyPr/>
                    <a:lstStyle/>
                    <a:p>
                      <a:pPr algn="ctr"/>
                      <a:r>
                        <a:rPr lang="en-US" sz="1600" dirty="0"/>
                        <a:t>Batch size</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32</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32</a:t>
                      </a:r>
                    </a:p>
                  </a:txBody>
                  <a:tcPr anchor="ctr"/>
                </a:tc>
                <a:extLst>
                  <a:ext uri="{0D108BD9-81ED-4DB2-BD59-A6C34878D82A}">
                    <a16:rowId xmlns:a16="http://schemas.microsoft.com/office/drawing/2014/main" val="1272579531"/>
                  </a:ext>
                </a:extLst>
              </a:tr>
              <a:tr h="595577">
                <a:tc>
                  <a:txBody>
                    <a:bodyPr/>
                    <a:lstStyle/>
                    <a:p>
                      <a:pPr algn="ctr"/>
                      <a:r>
                        <a:rPr lang="en-US" sz="1600" dirty="0"/>
                        <a:t>Activations</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LSTM: tanh + sigmoid gates; Dense: </a:t>
                      </a:r>
                      <a:r>
                        <a:rPr lang="en-US" sz="1600" dirty="0" err="1"/>
                        <a:t>ReLU</a:t>
                      </a:r>
                      <a:r>
                        <a:rPr lang="en-US" sz="1600" dirty="0"/>
                        <a:t>; Output: </a:t>
                      </a:r>
                      <a:r>
                        <a:rPr lang="en-US" sz="1600" dirty="0" err="1"/>
                        <a:t>Softmax</a:t>
                      </a:r>
                      <a:r>
                        <a:rPr lang="en-US" sz="1600" dirty="0"/>
                        <a:t> (5 classes)</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Conv1D + Dense: </a:t>
                      </a:r>
                      <a:r>
                        <a:rPr lang="en-US" sz="1600" dirty="0" err="1"/>
                        <a:t>ReLU</a:t>
                      </a:r>
                      <a:r>
                        <a:rPr lang="en-US" sz="1600" dirty="0"/>
                        <a:t>; Output: </a:t>
                      </a:r>
                      <a:r>
                        <a:rPr lang="en-US" sz="1600" dirty="0" err="1"/>
                        <a:t>Softmax</a:t>
                      </a:r>
                      <a:r>
                        <a:rPr lang="en-US" sz="1600" dirty="0"/>
                        <a:t> (5 classes)</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44515226"/>
                  </a:ext>
                </a:extLst>
              </a:tr>
              <a:tr h="595577">
                <a:tc>
                  <a:txBody>
                    <a:bodyPr/>
                    <a:lstStyle/>
                    <a:p>
                      <a:pPr algn="ctr"/>
                      <a:r>
                        <a:rPr lang="en-US" sz="1600" dirty="0"/>
                        <a:t>Regularization</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Dropout = 0.3 (after each LSTM layer)</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Dropout = 0.3 (after each LSTM layer)</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99972423"/>
                  </a:ext>
                </a:extLst>
              </a:tr>
              <a:tr h="595577">
                <a:tc>
                  <a:txBody>
                    <a:bodyPr/>
                    <a:lstStyle/>
                    <a:p>
                      <a:pPr algn="ctr"/>
                      <a:r>
                        <a:rPr lang="en-US" sz="1600" dirty="0"/>
                        <a:t>Prediction threshold</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N/A (</a:t>
                      </a:r>
                      <a:r>
                        <a:rPr lang="en-US" sz="1600" dirty="0" err="1"/>
                        <a:t>softmax</a:t>
                      </a:r>
                      <a:r>
                        <a:rPr lang="en-US" sz="1600" dirty="0"/>
                        <a:t> → argmax for class selection)</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N/A (</a:t>
                      </a:r>
                      <a:r>
                        <a:rPr lang="en-US" sz="1600" dirty="0" err="1"/>
                        <a:t>softmax</a:t>
                      </a:r>
                      <a:r>
                        <a:rPr lang="en-US" sz="1600" dirty="0"/>
                        <a:t> → argmax for class selection)</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71763596"/>
                  </a:ext>
                </a:extLst>
              </a:tr>
            </a:tbl>
          </a:graphicData>
        </a:graphic>
      </p:graphicFrame>
      <p:sp>
        <p:nvSpPr>
          <p:cNvPr id="5" name="Slide Number Placeholder 4">
            <a:extLst>
              <a:ext uri="{FF2B5EF4-FFF2-40B4-BE49-F238E27FC236}">
                <a16:creationId xmlns:a16="http://schemas.microsoft.com/office/drawing/2014/main" id="{6F87B808-58E5-CD22-8959-5BD32BB06725}"/>
              </a:ext>
            </a:extLst>
          </p:cNvPr>
          <p:cNvSpPr>
            <a:spLocks noGrp="1"/>
          </p:cNvSpPr>
          <p:nvPr>
            <p:ph type="sldNum" sz="quarter" idx="12"/>
          </p:nvPr>
        </p:nvSpPr>
        <p:spPr/>
        <p:txBody>
          <a:bodyPr/>
          <a:lstStyle/>
          <a:p>
            <a:fld id="{C45F31B8-6562-4A36-A35A-9CD554BAFD2A}" type="slidenum">
              <a:rPr lang="en-US" smtClean="0"/>
              <a:t>22</a:t>
            </a:fld>
            <a:endParaRPr lang="en-US"/>
          </a:p>
        </p:txBody>
      </p:sp>
    </p:spTree>
    <p:extLst>
      <p:ext uri="{BB962C8B-B14F-4D97-AF65-F5344CB8AC3E}">
        <p14:creationId xmlns:p14="http://schemas.microsoft.com/office/powerpoint/2010/main" val="2284138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7CC5E-7B06-6773-76D6-6CE05A8FF90F}"/>
              </a:ext>
            </a:extLst>
          </p:cNvPr>
          <p:cNvSpPr>
            <a:spLocks noGrp="1"/>
          </p:cNvSpPr>
          <p:nvPr>
            <p:ph type="title"/>
          </p:nvPr>
        </p:nvSpPr>
        <p:spPr>
          <a:xfrm>
            <a:off x="531275" y="124380"/>
            <a:ext cx="10307577" cy="755374"/>
          </a:xfrm>
        </p:spPr>
        <p:txBody>
          <a:bodyPr/>
          <a:lstStyle/>
          <a:p>
            <a:r>
              <a:rPr lang="en-US" sz="4000" dirty="0">
                <a:latin typeface="Times New Roman" panose="02020603050405020304" pitchFamily="18" charset="0"/>
                <a:cs typeface="Times New Roman" panose="02020603050405020304" pitchFamily="18" charset="0"/>
              </a:rPr>
              <a:t>Feature Vectorization</a:t>
            </a:r>
          </a:p>
        </p:txBody>
      </p:sp>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AF44BE8C-8D36-FB2F-F1E0-BE3634679A9B}"/>
                  </a:ext>
                </a:extLst>
              </p:cNvPr>
              <p:cNvSpPr/>
              <p:nvPr/>
            </p:nvSpPr>
            <p:spPr>
              <a:xfrm>
                <a:off x="2759911" y="863717"/>
                <a:ext cx="6311900" cy="832095"/>
              </a:xfrm>
              <a:prstGeom prst="rect">
                <a:avLst/>
              </a:prstGeom>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Frame Level processing</a:t>
                </a:r>
                <a:br>
                  <a:rPr lang="en-US" sz="2000" dirty="0"/>
                </a:br>
                <a14:m>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e>
                        <m:r>
                          <a:rPr lang="ar-AE" i="1">
                            <a:latin typeface="Cambria Math" panose="02040503050406030204" pitchFamily="18" charset="0"/>
                          </a:rPr>
                          <m:t>𝑧</m:t>
                        </m:r>
                      </m:e>
                      <m:e>
                        <m:r>
                          <a:rPr lang="ar-AE" i="1">
                            <a:latin typeface="Cambria Math" panose="02040503050406030204" pitchFamily="18" charset="0"/>
                          </a:rPr>
                          <m:t>𝑣</m:t>
                        </m:r>
                      </m:e>
                    </m:d>
                  </m:oMath>
                </a14:m>
                <a:r>
                  <a:rPr lang="ar-AE" sz="2000" dirty="0"/>
                  <a:t>= </a:t>
                </a:r>
                <a:r>
                  <a:rPr lang="en-US" sz="2000" dirty="0"/>
                  <a:t> lateral, depth, height, velocity</a:t>
                </a:r>
                <a:endParaRPr lang="en-US" sz="2000" b="1" dirty="0">
                  <a:solidFill>
                    <a:schemeClr val="tx1"/>
                  </a:solidFill>
                  <a:latin typeface="Times New Roman" panose="02020603050405020304" pitchFamily="18" charset="0"/>
                  <a:cs typeface="Times New Roman" panose="02020603050405020304" pitchFamily="18" charset="0"/>
                </a:endParaRPr>
              </a:p>
            </p:txBody>
          </p:sp>
        </mc:Choice>
        <mc:Fallback>
          <p:sp>
            <p:nvSpPr>
              <p:cNvPr id="16" name="Rectangle 15">
                <a:extLst>
                  <a:ext uri="{FF2B5EF4-FFF2-40B4-BE49-F238E27FC236}">
                    <a16:creationId xmlns:a16="http://schemas.microsoft.com/office/drawing/2014/main" id="{AF44BE8C-8D36-FB2F-F1E0-BE3634679A9B}"/>
                  </a:ext>
                </a:extLst>
              </p:cNvPr>
              <p:cNvSpPr>
                <a:spLocks noRot="1" noChangeAspect="1" noMove="1" noResize="1" noEditPoints="1" noAdjustHandles="1" noChangeArrowheads="1" noChangeShapeType="1" noTextEdit="1"/>
              </p:cNvSpPr>
              <p:nvPr/>
            </p:nvSpPr>
            <p:spPr>
              <a:xfrm>
                <a:off x="2759911" y="863717"/>
                <a:ext cx="6311900" cy="832095"/>
              </a:xfrm>
              <a:prstGeom prst="rect">
                <a:avLst/>
              </a:prstGeom>
              <a:blipFill>
                <a:blip r:embed="rId2"/>
                <a:stretch>
                  <a:fillRect b="-4317"/>
                </a:stretch>
              </a:blipFill>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F477BAE7-1C2A-BAB9-2E51-ABB5507A9BB4}"/>
              </a:ext>
            </a:extLst>
          </p:cNvPr>
          <p:cNvSpPr/>
          <p:nvPr/>
        </p:nvSpPr>
        <p:spPr>
          <a:xfrm>
            <a:off x="359678" y="1790506"/>
            <a:ext cx="5219700" cy="816721"/>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x_centroid</a:t>
            </a:r>
            <a:r>
              <a:rPr lang="en-US" sz="2400"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Locates group offset/center, important for multi-person positioning</a:t>
            </a:r>
          </a:p>
        </p:txBody>
      </p:sp>
      <p:sp>
        <p:nvSpPr>
          <p:cNvPr id="19" name="Rectangle 18">
            <a:extLst>
              <a:ext uri="{FF2B5EF4-FFF2-40B4-BE49-F238E27FC236}">
                <a16:creationId xmlns:a16="http://schemas.microsoft.com/office/drawing/2014/main" id="{651B5F54-CAD4-8C3A-A211-A25573B4DBF6}"/>
              </a:ext>
            </a:extLst>
          </p:cNvPr>
          <p:cNvSpPr/>
          <p:nvPr/>
        </p:nvSpPr>
        <p:spPr>
          <a:xfrm>
            <a:off x="359678" y="2731601"/>
            <a:ext cx="5219700" cy="778621"/>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y_centroid</a:t>
            </a:r>
            <a:r>
              <a:rPr lang="en-US" sz="2400" b="1"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Helps distinguish Approaching vs. splitting</a:t>
            </a:r>
          </a:p>
        </p:txBody>
      </p:sp>
      <p:sp>
        <p:nvSpPr>
          <p:cNvPr id="22" name="Rectangle 21">
            <a:extLst>
              <a:ext uri="{FF2B5EF4-FFF2-40B4-BE49-F238E27FC236}">
                <a16:creationId xmlns:a16="http://schemas.microsoft.com/office/drawing/2014/main" id="{BB61A587-3BFD-D862-D019-C529E86BC722}"/>
              </a:ext>
            </a:extLst>
          </p:cNvPr>
          <p:cNvSpPr/>
          <p:nvPr/>
        </p:nvSpPr>
        <p:spPr>
          <a:xfrm>
            <a:off x="353332" y="3598346"/>
            <a:ext cx="5219700" cy="715168"/>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z_centroid</a:t>
            </a:r>
            <a:r>
              <a:rPr lang="en-US" sz="2400"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Distinguishes </a:t>
            </a:r>
            <a:r>
              <a:rPr lang="en-US" sz="1400" b="1" dirty="0">
                <a:solidFill>
                  <a:schemeClr val="tx1"/>
                </a:solidFill>
                <a:latin typeface="Times New Roman" panose="02020603050405020304" pitchFamily="18" charset="0"/>
                <a:cs typeface="Times New Roman" panose="02020603050405020304" pitchFamily="18" charset="0"/>
              </a:rPr>
              <a:t>sitting vs. standing behaviors</a:t>
            </a:r>
          </a:p>
        </p:txBody>
      </p:sp>
      <p:sp>
        <p:nvSpPr>
          <p:cNvPr id="23" name="Rectangle 22">
            <a:extLst>
              <a:ext uri="{FF2B5EF4-FFF2-40B4-BE49-F238E27FC236}">
                <a16:creationId xmlns:a16="http://schemas.microsoft.com/office/drawing/2014/main" id="{1320A1EF-D68C-A676-5305-36936B11E3A6}"/>
              </a:ext>
            </a:extLst>
          </p:cNvPr>
          <p:cNvSpPr/>
          <p:nvPr/>
        </p:nvSpPr>
        <p:spPr>
          <a:xfrm>
            <a:off x="363762" y="4414490"/>
            <a:ext cx="5173435" cy="773383"/>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x_range</a:t>
            </a:r>
            <a:r>
              <a:rPr lang="en-US" sz="2400" b="1"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Lateral spread; measures </a:t>
            </a:r>
            <a:r>
              <a:rPr lang="en-US" sz="1400" b="1" dirty="0">
                <a:solidFill>
                  <a:schemeClr val="tx1"/>
                </a:solidFill>
                <a:latin typeface="Times New Roman" panose="02020603050405020304" pitchFamily="18" charset="0"/>
                <a:cs typeface="Times New Roman" panose="02020603050405020304" pitchFamily="18" charset="0"/>
              </a:rPr>
              <a:t>group width</a:t>
            </a:r>
            <a:r>
              <a:rPr lang="en-US" sz="1400" dirty="0">
                <a:solidFill>
                  <a:schemeClr val="tx1"/>
                </a:solidFill>
                <a:latin typeface="Times New Roman" panose="02020603050405020304" pitchFamily="18" charset="0"/>
                <a:cs typeface="Times New Roman" panose="02020603050405020304" pitchFamily="18" charset="0"/>
              </a:rPr>
              <a:t> (tight vs. wide formation)</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35CE47AF-2D03-98FD-2D49-E38ACE40245A}"/>
              </a:ext>
            </a:extLst>
          </p:cNvPr>
          <p:cNvSpPr/>
          <p:nvPr/>
        </p:nvSpPr>
        <p:spPr>
          <a:xfrm>
            <a:off x="399597" y="5237540"/>
            <a:ext cx="5173435" cy="881993"/>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y_range</a:t>
            </a:r>
            <a:r>
              <a:rPr lang="en-US" sz="2400" dirty="0">
                <a:solidFill>
                  <a:schemeClr val="tx1"/>
                </a:solidFill>
                <a:latin typeface="Times New Roman" panose="02020603050405020304" pitchFamily="18" charset="0"/>
                <a:cs typeface="Times New Roman" panose="02020603050405020304" pitchFamily="18" charset="0"/>
              </a:rPr>
              <a:t> </a:t>
            </a:r>
          </a:p>
          <a:p>
            <a:pPr algn="ctr"/>
            <a:r>
              <a:rPr lang="en-US" sz="2000" dirty="0">
                <a:solidFill>
                  <a:schemeClr val="tx1"/>
                </a:solidFill>
                <a:latin typeface="Times New Roman" panose="02020603050405020304" pitchFamily="18" charset="0"/>
                <a:cs typeface="Times New Roman" panose="02020603050405020304" pitchFamily="18" charset="0"/>
              </a:rPr>
              <a:t> Key for approaching vs splitting transitions</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8120A2BC-92FE-EAF1-977E-12F7853B3C41}"/>
              </a:ext>
            </a:extLst>
          </p:cNvPr>
          <p:cNvSpPr/>
          <p:nvPr/>
        </p:nvSpPr>
        <p:spPr>
          <a:xfrm>
            <a:off x="6642102" y="2240017"/>
            <a:ext cx="5384798" cy="816721"/>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y_variance</a:t>
            </a:r>
            <a:r>
              <a:rPr lang="en-US" sz="2400"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measures group’s depth consistency, useful in splitting/approaching detection</a:t>
            </a:r>
          </a:p>
        </p:txBody>
      </p:sp>
      <p:sp>
        <p:nvSpPr>
          <p:cNvPr id="29" name="Rectangle 28">
            <a:extLst>
              <a:ext uri="{FF2B5EF4-FFF2-40B4-BE49-F238E27FC236}">
                <a16:creationId xmlns:a16="http://schemas.microsoft.com/office/drawing/2014/main" id="{A8BB5997-E7EE-8F7F-1B08-F9C386488402}"/>
              </a:ext>
            </a:extLst>
          </p:cNvPr>
          <p:cNvSpPr/>
          <p:nvPr/>
        </p:nvSpPr>
        <p:spPr>
          <a:xfrm>
            <a:off x="6642102" y="3209036"/>
            <a:ext cx="5372098" cy="778621"/>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point_count</a:t>
            </a:r>
            <a:r>
              <a:rPr lang="en-US" sz="2400" b="1"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total reflections; proxy for group size (larger groups vs. pairs)</a:t>
            </a:r>
          </a:p>
        </p:txBody>
      </p:sp>
      <p:sp>
        <p:nvSpPr>
          <p:cNvPr id="30" name="Rectangle 29">
            <a:extLst>
              <a:ext uri="{FF2B5EF4-FFF2-40B4-BE49-F238E27FC236}">
                <a16:creationId xmlns:a16="http://schemas.microsoft.com/office/drawing/2014/main" id="{3C9918B1-B7A6-2E56-668E-94B742FD11CA}"/>
              </a:ext>
            </a:extLst>
          </p:cNvPr>
          <p:cNvSpPr/>
          <p:nvPr/>
        </p:nvSpPr>
        <p:spPr>
          <a:xfrm>
            <a:off x="6654802" y="4139956"/>
            <a:ext cx="5372098" cy="715168"/>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low_height_ratio</a:t>
            </a:r>
            <a:r>
              <a:rPr lang="en-US" sz="2400"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fraction of reflections &lt;1.2m; critical for detecting sitting discussions</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70D64187-C191-168D-E8D2-1949DE6BE8AC}"/>
              </a:ext>
            </a:extLst>
          </p:cNvPr>
          <p:cNvSpPr/>
          <p:nvPr/>
        </p:nvSpPr>
        <p:spPr>
          <a:xfrm>
            <a:off x="6654802" y="5046719"/>
            <a:ext cx="5372098" cy="773383"/>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moving_point_ratio</a:t>
            </a:r>
            <a:r>
              <a:rPr lang="en-US" sz="2400" b="1" dirty="0">
                <a:solidFill>
                  <a:schemeClr val="tx1"/>
                </a:solidFill>
                <a:latin typeface="Times New Roman" panose="02020603050405020304" pitchFamily="18" charset="0"/>
                <a:cs typeface="Times New Roman" panose="02020603050405020304" pitchFamily="18" charset="0"/>
              </a:rPr>
              <a:t> </a:t>
            </a:r>
          </a:p>
          <a:p>
            <a:pPr algn="ctr"/>
            <a:r>
              <a:rPr lang="en-US" sz="1400" dirty="0">
                <a:solidFill>
                  <a:schemeClr val="tx1"/>
                </a:solidFill>
                <a:latin typeface="Times New Roman" panose="02020603050405020304" pitchFamily="18" charset="0"/>
                <a:cs typeface="Times New Roman" panose="02020603050405020304" pitchFamily="18" charset="0"/>
              </a:rPr>
              <a:t>fraction of reflections with |v|&gt;0.1; detects active vs. static interactions)</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E37228C4-13A3-8743-F316-87BB2EA10868}"/>
              </a:ext>
            </a:extLst>
          </p:cNvPr>
          <p:cNvSpPr/>
          <p:nvPr/>
        </p:nvSpPr>
        <p:spPr>
          <a:xfrm>
            <a:off x="6642102" y="5960237"/>
            <a:ext cx="5372098" cy="773383"/>
          </a:xfrm>
          <a:prstGeom prst="rect">
            <a:avLst/>
          </a:prstGeom>
          <a:solidFill>
            <a:schemeClr val="accent4">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latin typeface="Times New Roman" panose="02020603050405020304" pitchFamily="18" charset="0"/>
                <a:cs typeface="Times New Roman" panose="02020603050405020304" pitchFamily="18" charset="0"/>
              </a:rPr>
              <a:t>mean_velocity</a:t>
            </a:r>
            <a:r>
              <a:rPr lang="en-US" sz="2400" dirty="0">
                <a:solidFill>
                  <a:schemeClr val="tx1"/>
                </a:solidFill>
                <a:latin typeface="Times New Roman" panose="02020603050405020304" pitchFamily="18" charset="0"/>
                <a:cs typeface="Times New Roman" panose="02020603050405020304" pitchFamily="18" charset="0"/>
              </a:rPr>
              <a:t> </a:t>
            </a:r>
          </a:p>
          <a:p>
            <a:pPr algn="ctr"/>
            <a:r>
              <a:rPr lang="en-US" sz="2000"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distinguishes static discussions vs. moving together.</a:t>
            </a:r>
            <a:endParaRPr lang="en-US" sz="1400" b="1" dirty="0">
              <a:solidFill>
                <a:schemeClr val="tx1"/>
              </a:solidFill>
              <a:latin typeface="Times New Roman" panose="02020603050405020304" pitchFamily="18" charset="0"/>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5759F550-034D-176A-D4E8-FEBDCBFD8F79}"/>
              </a:ext>
            </a:extLst>
          </p:cNvPr>
          <p:cNvCxnSpPr>
            <a:cxnSpLocks/>
          </p:cNvCxnSpPr>
          <p:nvPr/>
        </p:nvCxnSpPr>
        <p:spPr>
          <a:xfrm>
            <a:off x="5634265" y="2713910"/>
            <a:ext cx="8808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DEF5E98B-4737-2D34-EF04-7B2E4871FC0C}"/>
              </a:ext>
            </a:extLst>
          </p:cNvPr>
          <p:cNvCxnSpPr>
            <a:cxnSpLocks/>
          </p:cNvCxnSpPr>
          <p:nvPr/>
        </p:nvCxnSpPr>
        <p:spPr>
          <a:xfrm>
            <a:off x="5655582" y="4468250"/>
            <a:ext cx="8808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DBD53AA-A158-7A02-CB9B-3DFE6F681B5B}"/>
              </a:ext>
            </a:extLst>
          </p:cNvPr>
          <p:cNvCxnSpPr>
            <a:cxnSpLocks/>
          </p:cNvCxnSpPr>
          <p:nvPr/>
        </p:nvCxnSpPr>
        <p:spPr>
          <a:xfrm>
            <a:off x="5685064" y="3607156"/>
            <a:ext cx="8808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C453374B-3F48-95B0-7A39-651B74663E61}"/>
              </a:ext>
            </a:extLst>
          </p:cNvPr>
          <p:cNvCxnSpPr>
            <a:cxnSpLocks/>
          </p:cNvCxnSpPr>
          <p:nvPr/>
        </p:nvCxnSpPr>
        <p:spPr>
          <a:xfrm>
            <a:off x="5685065" y="6261098"/>
            <a:ext cx="8808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3EAE07F-2835-D236-ADB4-E99D2BD1E7B5}"/>
              </a:ext>
            </a:extLst>
          </p:cNvPr>
          <p:cNvCxnSpPr>
            <a:cxnSpLocks/>
          </p:cNvCxnSpPr>
          <p:nvPr/>
        </p:nvCxnSpPr>
        <p:spPr>
          <a:xfrm>
            <a:off x="5685064" y="5221423"/>
            <a:ext cx="8808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859DD9A-119E-F26B-3198-5992AD3AB599}"/>
              </a:ext>
            </a:extLst>
          </p:cNvPr>
          <p:cNvCxnSpPr/>
          <p:nvPr/>
        </p:nvCxnSpPr>
        <p:spPr>
          <a:xfrm>
            <a:off x="6095999" y="2240017"/>
            <a:ext cx="29482" cy="4021081"/>
          </a:xfrm>
          <a:prstGeom prst="line">
            <a:avLst/>
          </a:prstGeom>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882BA178-5678-AF15-5CD0-FCE19C340880}"/>
              </a:ext>
            </a:extLst>
          </p:cNvPr>
          <p:cNvSpPr>
            <a:spLocks noGrp="1"/>
          </p:cNvSpPr>
          <p:nvPr>
            <p:ph type="sldNum" sz="quarter" idx="12"/>
          </p:nvPr>
        </p:nvSpPr>
        <p:spPr/>
        <p:txBody>
          <a:bodyPr/>
          <a:lstStyle/>
          <a:p>
            <a:fld id="{C45F31B8-6562-4A36-A35A-9CD554BAFD2A}" type="slidenum">
              <a:rPr lang="en-US" smtClean="0"/>
              <a:t>23</a:t>
            </a:fld>
            <a:endParaRPr lang="en-US"/>
          </a:p>
        </p:txBody>
      </p:sp>
    </p:spTree>
    <p:extLst>
      <p:ext uri="{BB962C8B-B14F-4D97-AF65-F5344CB8AC3E}">
        <p14:creationId xmlns:p14="http://schemas.microsoft.com/office/powerpoint/2010/main" val="2380192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75FE0-F7BD-1222-CA2A-ECA9A89303F2}"/>
              </a:ext>
            </a:extLst>
          </p:cNvPr>
          <p:cNvSpPr>
            <a:spLocks noGrp="1"/>
          </p:cNvSpPr>
          <p:nvPr>
            <p:ph type="title"/>
          </p:nvPr>
        </p:nvSpPr>
        <p:spPr>
          <a:xfrm>
            <a:off x="409360" y="262858"/>
            <a:ext cx="10367497" cy="733186"/>
          </a:xfrm>
        </p:spPr>
        <p:txBody>
          <a:bodyPr/>
          <a:lstStyle/>
          <a:p>
            <a:r>
              <a:rPr lang="en-US" sz="4000">
                <a:latin typeface="Times New Roman" panose="02020603050405020304" pitchFamily="18" charset="0"/>
                <a:cs typeface="Times New Roman" panose="02020603050405020304" pitchFamily="18" charset="0"/>
              </a:rPr>
              <a:t>Future Work</a:t>
            </a:r>
            <a:endParaRPr lang="en-US" sz="4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C62DDE3-0542-4471-B6DD-EA93D3FD92DD}"/>
              </a:ext>
            </a:extLst>
          </p:cNvPr>
          <p:cNvSpPr txBox="1"/>
          <p:nvPr/>
        </p:nvSpPr>
        <p:spPr>
          <a:xfrm>
            <a:off x="409360" y="1517288"/>
            <a:ext cx="11198187" cy="2862322"/>
          </a:xfrm>
          <a:prstGeom prst="rect">
            <a:avLst/>
          </a:prstGeom>
          <a:noFill/>
        </p:spPr>
        <p:txBody>
          <a:bodyPr wrap="square" rtlCol="0">
            <a:spAutoFit/>
          </a:bodyPr>
          <a:lstStyle/>
          <a:p>
            <a:pPr marL="285750" indent="-28575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Develop a real-time prediction system for supporting elderly care and assisted living</a:t>
            </a:r>
          </a:p>
          <a:p>
            <a:pPr marL="285750" indent="-285750" algn="just">
              <a:lnSpc>
                <a:spcPct val="20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Try to add more micro activity in terms of social interaction</a:t>
            </a:r>
          </a:p>
          <a:p>
            <a:pPr marL="285750" indent="-28575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Integrate multi-sensor fusion (different </a:t>
            </a:r>
            <a:r>
              <a:rPr lang="en-US" sz="3000" dirty="0" err="1">
                <a:latin typeface="Times New Roman" panose="02020603050405020304" pitchFamily="18" charset="0"/>
                <a:cs typeface="Times New Roman" panose="02020603050405020304" pitchFamily="18" charset="0"/>
              </a:rPr>
              <a:t>mmwave</a:t>
            </a:r>
            <a:r>
              <a:rPr lang="en-US" sz="3000" dirty="0">
                <a:latin typeface="Times New Roman" panose="02020603050405020304" pitchFamily="18" charset="0"/>
                <a:cs typeface="Times New Roman" panose="02020603050405020304" pitchFamily="18" charset="0"/>
              </a:rPr>
              <a:t> radars) to enhance robustness and broaden activity classification</a:t>
            </a:r>
          </a:p>
        </p:txBody>
      </p:sp>
      <p:sp>
        <p:nvSpPr>
          <p:cNvPr id="4" name="Slide Number Placeholder 3">
            <a:extLst>
              <a:ext uri="{FF2B5EF4-FFF2-40B4-BE49-F238E27FC236}">
                <a16:creationId xmlns:a16="http://schemas.microsoft.com/office/drawing/2014/main" id="{64438712-11E1-F32A-460A-E9F48468ED60}"/>
              </a:ext>
            </a:extLst>
          </p:cNvPr>
          <p:cNvSpPr>
            <a:spLocks noGrp="1"/>
          </p:cNvSpPr>
          <p:nvPr>
            <p:ph type="sldNum" sz="quarter" idx="12"/>
          </p:nvPr>
        </p:nvSpPr>
        <p:spPr/>
        <p:txBody>
          <a:bodyPr/>
          <a:lstStyle/>
          <a:p>
            <a:fld id="{C45F31B8-6562-4A36-A35A-9CD554BAFD2A}" type="slidenum">
              <a:rPr lang="en-US" smtClean="0"/>
              <a:t>24</a:t>
            </a:fld>
            <a:endParaRPr lang="en-US"/>
          </a:p>
        </p:txBody>
      </p:sp>
    </p:spTree>
    <p:extLst>
      <p:ext uri="{BB962C8B-B14F-4D97-AF65-F5344CB8AC3E}">
        <p14:creationId xmlns:p14="http://schemas.microsoft.com/office/powerpoint/2010/main" val="395949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FD6C8-873B-1496-AEEC-FFDADDB472DF}"/>
              </a:ext>
            </a:extLst>
          </p:cNvPr>
          <p:cNvSpPr>
            <a:spLocks noGrp="1"/>
          </p:cNvSpPr>
          <p:nvPr>
            <p:ph type="title"/>
          </p:nvPr>
        </p:nvSpPr>
        <p:spPr>
          <a:xfrm>
            <a:off x="392430" y="239395"/>
            <a:ext cx="10515600" cy="1325563"/>
          </a:xfrm>
        </p:spPr>
        <p:txBody>
          <a:bodyPr/>
          <a:lstStyle/>
          <a:p>
            <a:r>
              <a:rPr lang="en-US" sz="4000"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EB6C6630-5961-8B62-78C9-9BC3406FE059}"/>
              </a:ext>
            </a:extLst>
          </p:cNvPr>
          <p:cNvSpPr txBox="1"/>
          <p:nvPr/>
        </p:nvSpPr>
        <p:spPr>
          <a:xfrm>
            <a:off x="506730" y="1564958"/>
            <a:ext cx="10401300" cy="369331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 A. K. Alhazmi, M. A. Alanazi, A. H. </a:t>
            </a:r>
            <a:r>
              <a:rPr lang="en-US" dirty="0" err="1">
                <a:latin typeface="Times New Roman" panose="02020603050405020304" pitchFamily="18" charset="0"/>
                <a:cs typeface="Times New Roman" panose="02020603050405020304" pitchFamily="18" charset="0"/>
              </a:rPr>
              <a:t>Alshehry</a:t>
            </a:r>
            <a:r>
              <a:rPr lang="en-US" dirty="0">
                <a:latin typeface="Times New Roman" panose="02020603050405020304" pitchFamily="18" charset="0"/>
                <a:cs typeface="Times New Roman" panose="02020603050405020304" pitchFamily="18" charset="0"/>
              </a:rPr>
              <a:t>, S. M. </a:t>
            </a:r>
            <a:r>
              <a:rPr lang="en-US" dirty="0" err="1">
                <a:latin typeface="Times New Roman" panose="02020603050405020304" pitchFamily="18" charset="0"/>
                <a:cs typeface="Times New Roman" panose="02020603050405020304" pitchFamily="18" charset="0"/>
              </a:rPr>
              <a:t>Alshahry</a:t>
            </a:r>
            <a:r>
              <a:rPr lang="en-US" dirty="0">
                <a:latin typeface="Times New Roman" panose="02020603050405020304" pitchFamily="18" charset="0"/>
                <a:cs typeface="Times New Roman" panose="02020603050405020304" pitchFamily="18" charset="0"/>
              </a:rPr>
              <a:t>, J. </a:t>
            </a:r>
            <a:r>
              <a:rPr lang="en-US" dirty="0" err="1">
                <a:latin typeface="Times New Roman" panose="02020603050405020304" pitchFamily="18" charset="0"/>
                <a:cs typeface="Times New Roman" panose="02020603050405020304" pitchFamily="18" charset="0"/>
              </a:rPr>
              <a:t>Jaszek</a:t>
            </a:r>
            <a:r>
              <a:rPr lang="en-US" dirty="0">
                <a:latin typeface="Times New Roman" panose="02020603050405020304" pitchFamily="18" charset="0"/>
                <a:cs typeface="Times New Roman" panose="02020603050405020304" pitchFamily="18" charset="0"/>
              </a:rPr>
              <a:t>, C. Djukic, A. Brown, K. Jackson, and V. P. </a:t>
            </a:r>
            <a:r>
              <a:rPr lang="en-US" dirty="0" err="1">
                <a:latin typeface="Times New Roman" panose="02020603050405020304" pitchFamily="18" charset="0"/>
                <a:cs typeface="Times New Roman" panose="02020603050405020304" pitchFamily="18" charset="0"/>
              </a:rPr>
              <a:t>Chodavarapu</a:t>
            </a:r>
            <a:r>
              <a:rPr lang="en-US" dirty="0">
                <a:latin typeface="Times New Roman" panose="02020603050405020304" pitchFamily="18" charset="0"/>
                <a:cs typeface="Times New Roman" panose="02020603050405020304" pitchFamily="18" charset="0"/>
              </a:rPr>
              <a:t>, “Intelligent millimeter-wave system for human activity monitoring for telemedicine,” </a:t>
            </a:r>
            <a:r>
              <a:rPr lang="en-US" i="1" dirty="0">
                <a:latin typeface="Times New Roman" panose="02020603050405020304" pitchFamily="18" charset="0"/>
                <a:cs typeface="Times New Roman" panose="02020603050405020304" pitchFamily="18" charset="0"/>
              </a:rPr>
              <a:t>[Journal/Conference name, vol., no., pp., year]</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(please provide the exact venue details if available, since they weren’t listed in your text)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Z. Li, J. Le </a:t>
            </a:r>
            <a:r>
              <a:rPr lang="en-US" dirty="0" err="1">
                <a:latin typeface="Times New Roman" panose="02020603050405020304" pitchFamily="18" charset="0"/>
                <a:cs typeface="Times New Roman" panose="02020603050405020304" pitchFamily="18" charset="0"/>
              </a:rPr>
              <a:t>Kernec</a:t>
            </a:r>
            <a:r>
              <a:rPr lang="en-US" dirty="0">
                <a:latin typeface="Times New Roman" panose="02020603050405020304" pitchFamily="18" charset="0"/>
                <a:cs typeface="Times New Roman" panose="02020603050405020304" pitchFamily="18" charset="0"/>
              </a:rPr>
              <a:t>, Q. Abbasi, F. Fioranelli, S. Yang, and O. Romain, “Radar-based human activity recognition with adaptive thresholding towards resource constrained platforms,” </a:t>
            </a:r>
            <a:r>
              <a:rPr lang="en-US" i="1" dirty="0">
                <a:latin typeface="Times New Roman" panose="02020603050405020304" pitchFamily="18" charset="0"/>
                <a:cs typeface="Times New Roman" panose="02020603050405020304" pitchFamily="18" charset="0"/>
              </a:rPr>
              <a:t>Scientific Reports</a:t>
            </a:r>
            <a:r>
              <a:rPr lang="en-US" dirty="0">
                <a:latin typeface="Times New Roman" panose="02020603050405020304" pitchFamily="18" charset="0"/>
                <a:cs typeface="Times New Roman" panose="02020603050405020304" pitchFamily="18" charset="0"/>
              </a:rPr>
              <a:t>, vol. 13, no. 3473, pp. 1–12, 2023</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F. Jin, R. Zhang, A. Sengupta, S. Cao, S. Hariri, N. K. Agarwal, and S. K. Agarwal, “Multiple patients behavior detection in real-time using </a:t>
            </a:r>
            <a:r>
              <a:rPr lang="en-US" dirty="0" err="1">
                <a:latin typeface="Times New Roman" panose="02020603050405020304" pitchFamily="18" charset="0"/>
                <a:cs typeface="Times New Roman" panose="02020603050405020304" pitchFamily="18" charset="0"/>
              </a:rPr>
              <a:t>mmWave</a:t>
            </a:r>
            <a:r>
              <a:rPr lang="en-US" dirty="0">
                <a:latin typeface="Times New Roman" panose="02020603050405020304" pitchFamily="18" charset="0"/>
                <a:cs typeface="Times New Roman" panose="02020603050405020304" pitchFamily="18" charset="0"/>
              </a:rPr>
              <a:t> radar and deep CNNs,” in </a:t>
            </a:r>
            <a:r>
              <a:rPr lang="en-US" i="1" dirty="0">
                <a:latin typeface="Times New Roman" panose="02020603050405020304" pitchFamily="18" charset="0"/>
                <a:cs typeface="Times New Roman" panose="02020603050405020304" pitchFamily="18" charset="0"/>
              </a:rPr>
              <a:t>Proc. IEEE Radar Conf. (</a:t>
            </a:r>
            <a:r>
              <a:rPr lang="en-US" i="1" dirty="0" err="1">
                <a:latin typeface="Times New Roman" panose="02020603050405020304" pitchFamily="18" charset="0"/>
                <a:cs typeface="Times New Roman" panose="02020603050405020304" pitchFamily="18" charset="0"/>
              </a:rPr>
              <a:t>RadarConf</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Boston, MA, USA, 2019, pp. 1–6</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EF97CBB-C448-B73A-874E-4B9706DC07AE}"/>
              </a:ext>
            </a:extLst>
          </p:cNvPr>
          <p:cNvSpPr>
            <a:spLocks noGrp="1"/>
          </p:cNvSpPr>
          <p:nvPr>
            <p:ph type="sldNum" sz="quarter" idx="12"/>
          </p:nvPr>
        </p:nvSpPr>
        <p:spPr/>
        <p:txBody>
          <a:bodyPr/>
          <a:lstStyle/>
          <a:p>
            <a:fld id="{C45F31B8-6562-4A36-A35A-9CD554BAFD2A}" type="slidenum">
              <a:rPr lang="en-US" smtClean="0"/>
              <a:t>25</a:t>
            </a:fld>
            <a:endParaRPr lang="en-US"/>
          </a:p>
        </p:txBody>
      </p:sp>
    </p:spTree>
    <p:extLst>
      <p:ext uri="{BB962C8B-B14F-4D97-AF65-F5344CB8AC3E}">
        <p14:creationId xmlns:p14="http://schemas.microsoft.com/office/powerpoint/2010/main" val="4047610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F4469-8759-6E92-B235-B0754B9575EA}"/>
              </a:ext>
            </a:extLst>
          </p:cNvPr>
          <p:cNvSpPr>
            <a:spLocks noGrp="1"/>
          </p:cNvSpPr>
          <p:nvPr>
            <p:ph type="title"/>
          </p:nvPr>
        </p:nvSpPr>
        <p:spPr>
          <a:xfrm>
            <a:off x="629856" y="2115425"/>
            <a:ext cx="10515600" cy="2942092"/>
          </a:xfrm>
        </p:spPr>
        <p:txBody>
          <a:bodyPr/>
          <a:lstStyle/>
          <a:p>
            <a:pPr algn="ctr"/>
            <a:r>
              <a:rPr lang="en-US" sz="5000" b="1" dirty="0">
                <a:latin typeface="Times New Roman" panose="02020603050405020304" pitchFamily="18" charset="0"/>
                <a:cs typeface="Times New Roman" panose="02020603050405020304" pitchFamily="18" charset="0"/>
              </a:rPr>
              <a:t>If any suggestion</a:t>
            </a:r>
          </a:p>
        </p:txBody>
      </p:sp>
      <p:sp>
        <p:nvSpPr>
          <p:cNvPr id="4" name="Slide Number Placeholder 3">
            <a:extLst>
              <a:ext uri="{FF2B5EF4-FFF2-40B4-BE49-F238E27FC236}">
                <a16:creationId xmlns:a16="http://schemas.microsoft.com/office/drawing/2014/main" id="{2ABFDBC2-D625-2232-67ED-078090209E67}"/>
              </a:ext>
            </a:extLst>
          </p:cNvPr>
          <p:cNvSpPr>
            <a:spLocks noGrp="1"/>
          </p:cNvSpPr>
          <p:nvPr>
            <p:ph type="sldNum" sz="quarter" idx="12"/>
          </p:nvPr>
        </p:nvSpPr>
        <p:spPr/>
        <p:txBody>
          <a:bodyPr/>
          <a:lstStyle/>
          <a:p>
            <a:fld id="{C45F31B8-6562-4A36-A35A-9CD554BAFD2A}" type="slidenum">
              <a:rPr lang="en-US" smtClean="0"/>
              <a:t>26</a:t>
            </a:fld>
            <a:endParaRPr lang="en-US"/>
          </a:p>
        </p:txBody>
      </p:sp>
    </p:spTree>
    <p:extLst>
      <p:ext uri="{BB962C8B-B14F-4D97-AF65-F5344CB8AC3E}">
        <p14:creationId xmlns:p14="http://schemas.microsoft.com/office/powerpoint/2010/main" val="977039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20139</TotalTime>
  <Words>1626</Words>
  <Application>Microsoft Office PowerPoint</Application>
  <PresentationFormat>Widescreen</PresentationFormat>
  <Paragraphs>263</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Cambria Math</vt:lpstr>
      <vt:lpstr>Times New Roman</vt:lpstr>
      <vt:lpstr>Wingdings</vt:lpstr>
      <vt:lpstr>Office Theme</vt:lpstr>
      <vt:lpstr>Social Behavior Inference and Interaction Mapping using  mmWave Radar </vt:lpstr>
      <vt:lpstr>Outline</vt:lpstr>
      <vt:lpstr>PowerPoint Presentation</vt:lpstr>
      <vt:lpstr>PowerPoint Presentation</vt:lpstr>
      <vt:lpstr>PowerPoint Presentation</vt:lpstr>
      <vt:lpstr>Introduction </vt:lpstr>
      <vt:lpstr>Problem Statement</vt:lpstr>
      <vt:lpstr>Literature Review</vt:lpstr>
      <vt:lpstr>Literature Review</vt:lpstr>
      <vt:lpstr>PowerPoint Presentation</vt:lpstr>
      <vt:lpstr>   mmWave Radar Fundamental</vt:lpstr>
      <vt:lpstr>Sensor Setup</vt:lpstr>
      <vt:lpstr>Sensor Setup (Configuration Parameter)</vt:lpstr>
      <vt:lpstr>PowerPoint Presentation</vt:lpstr>
      <vt:lpstr>Raw Data Structure</vt:lpstr>
      <vt:lpstr>System Design</vt:lpstr>
      <vt:lpstr>Single Activity Recognition (Range-Doppler)</vt:lpstr>
      <vt:lpstr>PowerPoint Presentation</vt:lpstr>
      <vt:lpstr>Single Activity Recognition (Point Cloud)</vt:lpstr>
      <vt:lpstr>PowerPoint Presentation</vt:lpstr>
      <vt:lpstr>PowerPoint Presentation</vt:lpstr>
      <vt:lpstr>Model Preparation</vt:lpstr>
      <vt:lpstr>Feature Vectorization</vt:lpstr>
      <vt:lpstr>Future Work</vt:lpstr>
      <vt:lpstr>References</vt:lpstr>
      <vt:lpstr>If any suggestion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Behavior Prediction using  mmWave Radar</dc:title>
  <dc:creator>Alam, Md Fakhrul</dc:creator>
  <cp:lastModifiedBy>Alam, Md Fakhrul</cp:lastModifiedBy>
  <cp:revision>54</cp:revision>
  <dcterms:created xsi:type="dcterms:W3CDTF">2025-04-24T22:49:02Z</dcterms:created>
  <dcterms:modified xsi:type="dcterms:W3CDTF">2026-03-18T18:33:35Z</dcterms:modified>
</cp:coreProperties>
</file>